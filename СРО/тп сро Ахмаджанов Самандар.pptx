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Scada" panose="020B0604020202020204" charset="-52"/>
      <p:regular r:id="rId17"/>
    </p:embeddedFont>
    <p:embeddedFont>
      <p:font typeface="Orelega One" panose="020B0604020202020204" charset="0"/>
      <p:regular r:id="rId18"/>
    </p:embeddedFont>
    <p:embeddedFont>
      <p:font typeface="Scada Bold" panose="020B0604020202020204" charset="-52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8380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B6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222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B6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FFF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812800"/>
            <a:ext cx="7238819" cy="5130800"/>
          </a:xfrm>
          <a:prstGeom prst="roundRect">
            <a:avLst>
              <a:gd name="adj" fmla="val 8317"/>
            </a:avLst>
          </a:prstGeom>
          <a:solidFill>
            <a:srgbClr val="082A20">
              <a:alpha val="8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68371" y="1313221"/>
            <a:ext cx="6273643" cy="1393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11200" kern="100" spc="-224" dirty="0">
                <a:solidFill>
                  <a:srgbClr val="FFFFFF"/>
                </a:solidFill>
                <a:latin typeface="Orelega One" pitchFamily="34" charset="0"/>
                <a:ea typeface="Orelega One" pitchFamily="34" charset="-122"/>
                <a:cs typeface="Orelega One" pitchFamily="34" charset="-120"/>
              </a:rPr>
              <a:t>Введение</a:t>
            </a:r>
            <a:endParaRPr lang="en-US" sz="11200" dirty="0"/>
          </a:p>
        </p:txBody>
      </p:sp>
      <p:sp>
        <p:nvSpPr>
          <p:cNvPr id="4" name="Text 2"/>
          <p:cNvSpPr/>
          <p:nvPr/>
        </p:nvSpPr>
        <p:spPr>
          <a:xfrm>
            <a:off x="1168371" y="2844899"/>
            <a:ext cx="6273643" cy="1599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Здравствуйте! Тема моего проекта называется «Сервис записи на консультацию». Этот проект относится к сфере образования. Его основная цель заключается в том, чтобы студенты могли удобно записываться на консультации к преподавателям.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5156071" cy="5638800"/>
          </a:xfrm>
          <a:prstGeom prst="roundRect">
            <a:avLst>
              <a:gd name="adj" fmla="val 8276"/>
            </a:avLst>
          </a:prstGeom>
          <a:solidFill>
            <a:srgbClr val="F4A259"/>
          </a:solidFill>
          <a:ln/>
        </p:spPr>
      </p:sp>
      <p:sp>
        <p:nvSpPr>
          <p:cNvPr id="3" name="Text 1"/>
          <p:cNvSpPr/>
          <p:nvPr/>
        </p:nvSpPr>
        <p:spPr>
          <a:xfrm>
            <a:off x="1219170" y="1234250"/>
            <a:ext cx="3936902" cy="1267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800" kern="100" spc="-96" dirty="0">
                <a:solidFill>
                  <a:srgbClr val="000000"/>
                </a:solidFill>
                <a:latin typeface="Orelega One" pitchFamily="34" charset="0"/>
                <a:ea typeface="Orelega One" pitchFamily="34" charset="-122"/>
                <a:cs typeface="Orelega One" pitchFamily="34" charset="-120"/>
              </a:rPr>
              <a:t>Проблема и цель проекта</a:t>
            </a:r>
            <a:endParaRPr lang="en-US" sz="4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170" y="5410200"/>
            <a:ext cx="228594" cy="228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26039" y="609600"/>
            <a:ext cx="5156071" cy="5638800"/>
          </a:xfrm>
          <a:prstGeom prst="roundRect">
            <a:avLst>
              <a:gd name="adj" fmla="val 8276"/>
            </a:avLst>
          </a:prstGeom>
          <a:solidFill>
            <a:srgbClr val="FFF6E3"/>
          </a:solidFill>
          <a:ln/>
        </p:spPr>
      </p:sp>
      <p:sp>
        <p:nvSpPr>
          <p:cNvPr id="6" name="Text 3"/>
          <p:cNvSpPr/>
          <p:nvPr/>
        </p:nvSpPr>
        <p:spPr>
          <a:xfrm>
            <a:off x="7035624" y="1219200"/>
            <a:ext cx="3936902" cy="2879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В настоящее время студенты часто договариваются о консультациях через сообщения или лично. Из-за этого могут возникать путаница, совпадение времени и другие проблемы. Поэтому я предлагаю создать сервис, который позволит просматривать расписание и выбирать свободное время.</a:t>
            </a:r>
            <a:endParaRPr lang="en-US" sz="18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3471" y="6429315"/>
            <a:ext cx="1638529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3571190" cy="5951339"/>
          </a:xfrm>
          <a:prstGeom prst="roundRect">
            <a:avLst>
              <a:gd name="adj" fmla="val 11949"/>
            </a:avLst>
          </a:prstGeom>
          <a:solidFill>
            <a:srgbClr val="F4A25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609600"/>
            <a:ext cx="3571190" cy="595133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841059" y="609600"/>
            <a:ext cx="6741051" cy="5951339"/>
          </a:xfrm>
          <a:prstGeom prst="roundRect">
            <a:avLst>
              <a:gd name="adj" fmla="val 6330"/>
            </a:avLst>
          </a:prstGeom>
          <a:solidFill>
            <a:srgbClr val="FFF6E3"/>
          </a:solidFill>
          <a:ln/>
        </p:spPr>
      </p:sp>
      <p:sp>
        <p:nvSpPr>
          <p:cNvPr id="5" name="Text 2"/>
          <p:cNvSpPr/>
          <p:nvPr/>
        </p:nvSpPr>
        <p:spPr>
          <a:xfrm>
            <a:off x="5450644" y="1234250"/>
            <a:ext cx="5521881" cy="1267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000" kern="100" spc="-96" dirty="0">
                <a:solidFill>
                  <a:srgbClr val="000000"/>
                </a:solidFill>
                <a:latin typeface="Orelega One" pitchFamily="34" charset="0"/>
                <a:ea typeface="Orelega One" pitchFamily="34" charset="-122"/>
                <a:cs typeface="Orelega One" pitchFamily="34" charset="-120"/>
              </a:rPr>
              <a:t>Пользователи и сценарии</a:t>
            </a:r>
            <a:endParaRPr lang="en-US" sz="4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644" y="2715617"/>
            <a:ext cx="411090" cy="411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50644" y="3253439"/>
            <a:ext cx="5521881" cy="1005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Scada Bold" pitchFamily="34" charset="0"/>
                <a:ea typeface="Scada Bold" pitchFamily="34" charset="-122"/>
                <a:cs typeface="Scada Bold" pitchFamily="34" charset="-120"/>
              </a:rPr>
              <a:t>В системе есть две основные группы пользователей: студенты и преподаватели.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450644" y="4050650"/>
            <a:ext cx="5521881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Студент может посмотреть расписание, выбрать свободное время, указать своё имя, группу и тему консультации.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0644" y="5010591"/>
            <a:ext cx="466273" cy="4662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50644" y="5741127"/>
            <a:ext cx="552188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Преподаватель может управлять расписанием и просматривать заявки.</a:t>
            </a:r>
            <a:endParaRPr lang="en-US" sz="18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11072451" y="6560937"/>
            <a:ext cx="1119549" cy="2970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4650"/>
            <a:ext cx="10972526" cy="633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800" kern="100" spc="-96" dirty="0">
                <a:solidFill>
                  <a:srgbClr val="000000"/>
                </a:solidFill>
                <a:latin typeface="Orelega One" pitchFamily="34" charset="0"/>
                <a:ea typeface="Orelega One" pitchFamily="34" charset="-122"/>
                <a:cs typeface="Orelega One" pitchFamily="34" charset="-120"/>
              </a:rPr>
              <a:t>Функциональные возможности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609585" y="1472109"/>
            <a:ext cx="2514537" cy="3950097"/>
          </a:xfrm>
          <a:prstGeom prst="roundRect">
            <a:avLst>
              <a:gd name="adj" fmla="val 50000"/>
            </a:avLst>
          </a:prstGeom>
          <a:solidFill>
            <a:srgbClr val="F4A259"/>
          </a:solidFill>
          <a:ln/>
        </p:spPr>
      </p:sp>
      <p:sp>
        <p:nvSpPr>
          <p:cNvPr id="4" name="Text 2"/>
          <p:cNvSpPr/>
          <p:nvPr/>
        </p:nvSpPr>
        <p:spPr>
          <a:xfrm>
            <a:off x="914377" y="1700709"/>
            <a:ext cx="84284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Scada Bold" pitchFamily="34" charset="0"/>
                <a:ea typeface="Scada Bold" pitchFamily="34" charset="-122"/>
                <a:cs typeface="Scada Bold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377" y="2020788"/>
            <a:ext cx="1904952" cy="19050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6" name="Text 4"/>
          <p:cNvSpPr/>
          <p:nvPr/>
        </p:nvSpPr>
        <p:spPr>
          <a:xfrm>
            <a:off x="914377" y="2184579"/>
            <a:ext cx="1904952" cy="164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Scada Bold" pitchFamily="34" charset="0"/>
                <a:ea typeface="Scada Bold" pitchFamily="34" charset="-122"/>
                <a:cs typeface="Scada Bold" pitchFamily="34" charset="-120"/>
              </a:rPr>
              <a:t>Первая функция позволяет просматривать свободные временные слоты.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28914" y="1472109"/>
            <a:ext cx="2514537" cy="3950097"/>
          </a:xfrm>
          <a:prstGeom prst="roundRect">
            <a:avLst>
              <a:gd name="adj" fmla="val 50000"/>
            </a:avLst>
          </a:prstGeom>
          <a:solidFill>
            <a:srgbClr val="9FD8C0"/>
          </a:solidFill>
          <a:ln/>
        </p:spPr>
      </p:sp>
      <p:sp>
        <p:nvSpPr>
          <p:cNvPr id="8" name="Text 6"/>
          <p:cNvSpPr/>
          <p:nvPr/>
        </p:nvSpPr>
        <p:spPr>
          <a:xfrm>
            <a:off x="3733707" y="1700709"/>
            <a:ext cx="86218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Scada Bold" pitchFamily="34" charset="0"/>
                <a:ea typeface="Scada Bold" pitchFamily="34" charset="-122"/>
                <a:cs typeface="Scada Bold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733707" y="2020788"/>
            <a:ext cx="1904952" cy="19050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10" name="Text 8"/>
          <p:cNvSpPr/>
          <p:nvPr/>
        </p:nvSpPr>
        <p:spPr>
          <a:xfrm>
            <a:off x="3733707" y="2184579"/>
            <a:ext cx="1904952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Scada Bold" pitchFamily="34" charset="0"/>
                <a:ea typeface="Scada Bold" pitchFamily="34" charset="-122"/>
                <a:cs typeface="Scada Bold" pitchFamily="34" charset="-120"/>
              </a:rPr>
              <a:t>Вторая позволяет создавать заявку на консультацию.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48244" y="1472109"/>
            <a:ext cx="2514537" cy="3950097"/>
          </a:xfrm>
          <a:prstGeom prst="roundRect">
            <a:avLst>
              <a:gd name="adj" fmla="val 50000"/>
            </a:avLst>
          </a:prstGeom>
          <a:solidFill>
            <a:srgbClr val="F4A259"/>
          </a:solidFill>
          <a:ln/>
        </p:spPr>
      </p:sp>
      <p:sp>
        <p:nvSpPr>
          <p:cNvPr id="12" name="Text 10"/>
          <p:cNvSpPr/>
          <p:nvPr/>
        </p:nvSpPr>
        <p:spPr>
          <a:xfrm>
            <a:off x="6553036" y="1700709"/>
            <a:ext cx="8633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Scada Bold" pitchFamily="34" charset="0"/>
                <a:ea typeface="Scada Bold" pitchFamily="34" charset="-122"/>
                <a:cs typeface="Scada Bold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53036" y="2020788"/>
            <a:ext cx="1904952" cy="19050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14" name="Text 12"/>
          <p:cNvSpPr/>
          <p:nvPr/>
        </p:nvSpPr>
        <p:spPr>
          <a:xfrm>
            <a:off x="6553036" y="2184579"/>
            <a:ext cx="1904952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Scada Bold" pitchFamily="34" charset="0"/>
                <a:ea typeface="Scada Bold" pitchFamily="34" charset="-122"/>
                <a:cs typeface="Scada Bold" pitchFamily="34" charset="-120"/>
              </a:rPr>
              <a:t>Третья нужна для отмены записи.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067573" y="1472109"/>
            <a:ext cx="2514537" cy="3950097"/>
          </a:xfrm>
          <a:prstGeom prst="roundRect">
            <a:avLst>
              <a:gd name="adj" fmla="val 50000"/>
            </a:avLst>
          </a:prstGeom>
          <a:solidFill>
            <a:srgbClr val="9FD8C0"/>
          </a:solidFill>
          <a:ln/>
        </p:spPr>
      </p:sp>
      <p:sp>
        <p:nvSpPr>
          <p:cNvPr id="16" name="Text 14"/>
          <p:cNvSpPr/>
          <p:nvPr/>
        </p:nvSpPr>
        <p:spPr>
          <a:xfrm>
            <a:off x="9372366" y="1700709"/>
            <a:ext cx="87707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Scada Bold" pitchFamily="34" charset="0"/>
                <a:ea typeface="Scada Bold" pitchFamily="34" charset="-122"/>
                <a:cs typeface="Scada Bold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72366" y="2020788"/>
            <a:ext cx="1904952" cy="19050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18" name="Text 16"/>
          <p:cNvSpPr/>
          <p:nvPr/>
        </p:nvSpPr>
        <p:spPr>
          <a:xfrm>
            <a:off x="9372366" y="2184579"/>
            <a:ext cx="1904952" cy="3016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Scada Bold" pitchFamily="34" charset="0"/>
                <a:ea typeface="Scada Bold" pitchFamily="34" charset="-122"/>
                <a:cs typeface="Scada Bold" pitchFamily="34" charset="-120"/>
              </a:rPr>
              <a:t>Также система проверяет правильность введённых данных, обнаруживает пересечения по времени и показывает статус каждого слота.</a:t>
            </a:r>
            <a:endParaRPr lang="en-US" sz="1800" dirty="0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518" y="6524607"/>
            <a:ext cx="1295481" cy="3333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4650"/>
            <a:ext cx="10972526" cy="633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000" kern="100" spc="-96" dirty="0">
                <a:solidFill>
                  <a:srgbClr val="FFF6E3"/>
                </a:solidFill>
                <a:latin typeface="Orelega One" pitchFamily="34" charset="0"/>
                <a:ea typeface="Orelega One" pitchFamily="34" charset="-122"/>
                <a:cs typeface="Orelega One" pitchFamily="34" charset="-120"/>
              </a:rPr>
              <a:t>Модель данных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585" y="1192579"/>
            <a:ext cx="1158211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6E3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Для хранения информации используются три основные сущности: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77796" y="1802477"/>
            <a:ext cx="5676904" cy="1916707"/>
          </a:xfrm>
          <a:prstGeom prst="roundRect">
            <a:avLst>
              <a:gd name="adj" fmla="val 14252"/>
            </a:avLst>
          </a:prstGeom>
          <a:solidFill>
            <a:srgbClr val="F4A25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2008225"/>
            <a:ext cx="457189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4706" y="2060048"/>
            <a:ext cx="4309260" cy="449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400" kern="100" spc="-68" dirty="0">
                <a:solidFill>
                  <a:srgbClr val="000000"/>
                </a:solidFill>
                <a:latin typeface="Orelega One" pitchFamily="34" charset="0"/>
                <a:ea typeface="Orelega One" pitchFamily="34" charset="-122"/>
                <a:cs typeface="Orelega One" pitchFamily="34" charset="-120"/>
              </a:rPr>
              <a:t>Teacher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104706" y="2697131"/>
            <a:ext cx="430926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Teacher содержит информацию о преподавателе.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46044" y="3810267"/>
            <a:ext cx="5708656" cy="1460234"/>
          </a:xfrm>
          <a:prstGeom prst="roundRect">
            <a:avLst>
              <a:gd name="adj" fmla="val 14252"/>
            </a:avLst>
          </a:prstGeom>
          <a:solidFill>
            <a:srgbClr val="9FD8C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60" y="3968686"/>
            <a:ext cx="457189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15975" y="3968686"/>
            <a:ext cx="4309260" cy="449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400" kern="100" spc="-68" dirty="0">
                <a:solidFill>
                  <a:srgbClr val="000000"/>
                </a:solidFill>
                <a:latin typeface="Orelega One" pitchFamily="34" charset="0"/>
                <a:ea typeface="Orelega One" pitchFamily="34" charset="-122"/>
                <a:cs typeface="Orelega One" pitchFamily="34" charset="-120"/>
              </a:rPr>
              <a:t>Slot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1015975" y="4524145"/>
            <a:ext cx="430926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Slot хранит дату, время и статус временного интервала.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146044" y="5326867"/>
            <a:ext cx="5708656" cy="1489330"/>
          </a:xfrm>
          <a:prstGeom prst="roundRect">
            <a:avLst>
              <a:gd name="adj" fmla="val 14252"/>
            </a:avLst>
          </a:prstGeom>
          <a:solidFill>
            <a:srgbClr val="FFF6E3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660" y="5387400"/>
            <a:ext cx="457189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15975" y="5326867"/>
            <a:ext cx="4309260" cy="449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400" kern="100" spc="-68" dirty="0">
                <a:solidFill>
                  <a:srgbClr val="000000"/>
                </a:solidFill>
                <a:latin typeface="Orelega One" pitchFamily="34" charset="0"/>
                <a:ea typeface="Orelega One" pitchFamily="34" charset="-122"/>
                <a:cs typeface="Orelega One" pitchFamily="34" charset="-120"/>
              </a:rPr>
              <a:t>Booking</a:t>
            </a:r>
            <a:endParaRPr lang="en-US" sz="3400" dirty="0"/>
          </a:p>
        </p:txBody>
      </p:sp>
      <p:sp>
        <p:nvSpPr>
          <p:cNvPr id="15" name="Text 10"/>
          <p:cNvSpPr/>
          <p:nvPr/>
        </p:nvSpPr>
        <p:spPr>
          <a:xfrm>
            <a:off x="1015975" y="5844600"/>
            <a:ext cx="430926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Booking содержит данные студента и его заявку.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7464831" y="1512559"/>
            <a:ext cx="4460168" cy="4735841"/>
          </a:xfrm>
          <a:prstGeom prst="roundRect">
            <a:avLst>
              <a:gd name="adj" fmla="val 9567"/>
            </a:avLst>
          </a:prstGeom>
          <a:solidFill>
            <a:srgbClr val="F4A259"/>
          </a:solidFill>
          <a:ln/>
        </p:spPr>
      </p:sp>
      <p:sp>
        <p:nvSpPr>
          <p:cNvPr id="17" name="Text 12"/>
          <p:cNvSpPr/>
          <p:nvPr/>
        </p:nvSpPr>
        <p:spPr>
          <a:xfrm>
            <a:off x="7858524" y="1861462"/>
            <a:ext cx="3850583" cy="1599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Между этими сущностями устанавливаются связи, чтобы можно было определить, кому принадлежит слот и какая заявка с ним связана.</a:t>
            </a:r>
            <a:endParaRPr lang="en-US" sz="1800" dirty="0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1264" y="6432248"/>
            <a:ext cx="1330431" cy="4036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382480" cy="5638800"/>
          </a:xfrm>
          <a:prstGeom prst="roundRect">
            <a:avLst>
              <a:gd name="adj" fmla="val 17910"/>
            </a:avLst>
          </a:prstGeom>
          <a:solidFill>
            <a:srgbClr val="F4A25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170" y="3143250"/>
            <a:ext cx="571486" cy="571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2349" y="609600"/>
            <a:ext cx="7929761" cy="5638800"/>
          </a:xfrm>
          <a:prstGeom prst="roundRect">
            <a:avLst>
              <a:gd name="adj" fmla="val 7567"/>
            </a:avLst>
          </a:prstGeom>
          <a:solidFill>
            <a:srgbClr val="FFF6E3"/>
          </a:solidFill>
          <a:ln/>
        </p:spPr>
      </p:sp>
      <p:sp>
        <p:nvSpPr>
          <p:cNvPr id="5" name="Text 2"/>
          <p:cNvSpPr/>
          <p:nvPr/>
        </p:nvSpPr>
        <p:spPr>
          <a:xfrm>
            <a:off x="4261934" y="1234250"/>
            <a:ext cx="6710591" cy="633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800" kern="100" spc="-96" dirty="0">
                <a:solidFill>
                  <a:srgbClr val="000000"/>
                </a:solidFill>
                <a:latin typeface="Orelega One" pitchFamily="34" charset="0"/>
                <a:ea typeface="Orelega One" pitchFamily="34" charset="-122"/>
                <a:cs typeface="Orelega One" pitchFamily="34" charset="-120"/>
              </a:rPr>
              <a:t>Проверка пересечений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261934" y="2081709"/>
            <a:ext cx="671059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Одна из главных задач проекта заключается в проверке пересечений.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261934" y="2928045"/>
            <a:ext cx="6710591" cy="1315541"/>
          </a:xfrm>
          <a:prstGeom prst="roundRect">
            <a:avLst>
              <a:gd name="adj" fmla="val 49999"/>
            </a:avLst>
          </a:prstGeom>
          <a:solidFill>
            <a:srgbClr val="22252B"/>
          </a:solidFill>
          <a:ln/>
        </p:spPr>
      </p:sp>
      <p:sp>
        <p:nvSpPr>
          <p:cNvPr id="8" name="Text 5"/>
          <p:cNvSpPr/>
          <p:nvPr/>
        </p:nvSpPr>
        <p:spPr>
          <a:xfrm>
            <a:off x="4541327" y="3105845"/>
            <a:ext cx="6151805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Например, если студент уже записан на консультацию с 14:00 до 14:30, система не должна разрешать другую запись на 14:15.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261934" y="4395986"/>
            <a:ext cx="6710591" cy="995561"/>
          </a:xfrm>
          <a:prstGeom prst="roundRect">
            <a:avLst>
              <a:gd name="adj" fmla="val 49999"/>
            </a:avLst>
          </a:prstGeom>
          <a:solidFill>
            <a:srgbClr val="9FD8C0"/>
          </a:solidFill>
          <a:ln/>
        </p:spPr>
      </p:sp>
      <p:sp>
        <p:nvSpPr>
          <p:cNvPr id="10" name="Text 7"/>
          <p:cNvSpPr/>
          <p:nvPr/>
        </p:nvSpPr>
        <p:spPr>
          <a:xfrm>
            <a:off x="4541327" y="4573786"/>
            <a:ext cx="615180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При этом запись с 14:30 до 15:00 допустима, потому что интервалы не пересекаются.</a:t>
            </a:r>
            <a:endParaRPr lang="en-US" sz="18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7893" y="6518215"/>
            <a:ext cx="1124107" cy="2857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6741051" cy="5638800"/>
          </a:xfrm>
          <a:prstGeom prst="roundRect">
            <a:avLst>
              <a:gd name="adj" fmla="val 7567"/>
            </a:avLst>
          </a:prstGeom>
          <a:solidFill>
            <a:srgbClr val="FFF6E3"/>
          </a:solidFill>
          <a:ln/>
        </p:spPr>
      </p:sp>
      <p:sp>
        <p:nvSpPr>
          <p:cNvPr id="3" name="Text 1"/>
          <p:cNvSpPr/>
          <p:nvPr/>
        </p:nvSpPr>
        <p:spPr>
          <a:xfrm>
            <a:off x="1219170" y="1234250"/>
            <a:ext cx="5521881" cy="633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800" kern="100" spc="-96" dirty="0">
                <a:solidFill>
                  <a:srgbClr val="000000"/>
                </a:solidFill>
                <a:latin typeface="Orelega One" pitchFamily="34" charset="0"/>
                <a:ea typeface="Orelega One" pitchFamily="34" charset="-122"/>
                <a:cs typeface="Orelega One" pitchFamily="34" charset="-120"/>
              </a:rPr>
              <a:t>Код на Python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219170" y="2081709"/>
            <a:ext cx="552188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Python используется для демонстрации основной логики сервиса.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170" y="2928045"/>
            <a:ext cx="571486" cy="571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19468" y="2928045"/>
            <a:ext cx="4521583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В коде есть функции создания заявки, проверки временных интервалов и отмены записи.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170" y="3887986"/>
            <a:ext cx="571486" cy="571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19468" y="3887986"/>
            <a:ext cx="4521583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Перед созданием заявки система проверяет имя студента и правильность времени.</a:t>
            </a:r>
            <a:endParaRPr lang="en-US" sz="1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170" y="4847927"/>
            <a:ext cx="571486" cy="571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19468" y="4847927"/>
            <a:ext cx="452158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Если выбранный интервал уже занят, появляется сообщение об ошибке.</a:t>
            </a:r>
            <a:endParaRPr lang="en-US" sz="1800" dirty="0"/>
          </a:p>
        </p:txBody>
      </p:sp>
      <p:sp>
        <p:nvSpPr>
          <p:cNvPr id="11" name="Shape 6"/>
          <p:cNvSpPr/>
          <p:nvPr/>
        </p:nvSpPr>
        <p:spPr>
          <a:xfrm>
            <a:off x="8010920" y="609600"/>
            <a:ext cx="3571190" cy="5638800"/>
          </a:xfrm>
          <a:prstGeom prst="roundRect">
            <a:avLst>
              <a:gd name="adj" fmla="val 11949"/>
            </a:avLst>
          </a:prstGeom>
          <a:solidFill>
            <a:srgbClr val="F4A259"/>
          </a:solidFill>
          <a:ln/>
        </p:spPr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6656" y="6505557"/>
            <a:ext cx="1465343" cy="3148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53400" y="544890"/>
            <a:ext cx="342871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/>
            </a:r>
            <a:br>
              <a:rPr lang="en-US" sz="400" dirty="0"/>
            </a:br>
            <a:r>
              <a:rPr lang="en-US" sz="400" dirty="0"/>
              <a:t>&lt;!DOCTYPE html&gt;</a:t>
            </a:r>
          </a:p>
          <a:p>
            <a:r>
              <a:rPr lang="en-US" sz="400" dirty="0"/>
              <a:t>&lt;html </a:t>
            </a:r>
            <a:r>
              <a:rPr lang="en-US" sz="400" dirty="0" err="1"/>
              <a:t>lang</a:t>
            </a:r>
            <a:r>
              <a:rPr lang="en-US" sz="400" dirty="0"/>
              <a:t>="</a:t>
            </a:r>
            <a:r>
              <a:rPr lang="en-US" sz="400" dirty="0" err="1"/>
              <a:t>ru</a:t>
            </a:r>
            <a:r>
              <a:rPr lang="en-US" sz="400" dirty="0"/>
              <a:t>"&gt;</a:t>
            </a:r>
          </a:p>
          <a:p>
            <a:r>
              <a:rPr lang="en-US" sz="400" dirty="0"/>
              <a:t>&lt;head&gt;</a:t>
            </a:r>
          </a:p>
          <a:p>
            <a:r>
              <a:rPr lang="en-US" sz="400" dirty="0"/>
              <a:t>    &lt;meta charset="UTF-8"&gt;</a:t>
            </a:r>
          </a:p>
          <a:p>
            <a:r>
              <a:rPr lang="en-US" sz="400" dirty="0"/>
              <a:t>    &lt;meta name="viewport" content="width=device-width, initial-scale=1.0"&gt;</a:t>
            </a:r>
          </a:p>
          <a:p>
            <a:r>
              <a:rPr lang="en-US" sz="400" dirty="0"/>
              <a:t>    &lt;title&gt;</a:t>
            </a:r>
            <a:r>
              <a:rPr lang="ru-RU" sz="400" dirty="0"/>
              <a:t>Запись на консультацию&lt;/</a:t>
            </a:r>
            <a:r>
              <a:rPr lang="en-US" sz="400" dirty="0"/>
              <a:t>title&gt;</a:t>
            </a:r>
          </a:p>
          <a:p>
            <a:r>
              <a:rPr lang="en-US" sz="400" dirty="0"/>
              <a:t>    &lt;link </a:t>
            </a:r>
            <a:r>
              <a:rPr lang="en-US" sz="400" dirty="0" err="1"/>
              <a:t>rel</a:t>
            </a:r>
            <a:r>
              <a:rPr lang="en-US" sz="400" dirty="0"/>
              <a:t>="stylesheet" </a:t>
            </a:r>
            <a:r>
              <a:rPr lang="en-US" sz="400" dirty="0" err="1"/>
              <a:t>href</a:t>
            </a:r>
            <a:r>
              <a:rPr lang="en-US" sz="400" dirty="0"/>
              <a:t>="style.css"&gt;</a:t>
            </a:r>
          </a:p>
          <a:p>
            <a:r>
              <a:rPr lang="en-US" sz="400" dirty="0"/>
              <a:t>&lt;/head&gt;</a:t>
            </a:r>
          </a:p>
          <a:p>
            <a:r>
              <a:rPr lang="en-US" sz="400" dirty="0"/>
              <a:t>&lt;body&gt;</a:t>
            </a:r>
          </a:p>
          <a:p>
            <a:r>
              <a:rPr lang="en-US" sz="400" dirty="0"/>
              <a:t/>
            </a:r>
            <a:br>
              <a:rPr lang="en-US" sz="400" dirty="0"/>
            </a:br>
            <a:r>
              <a:rPr lang="en-US" sz="400" dirty="0"/>
              <a:t>&lt;header&gt;</a:t>
            </a:r>
          </a:p>
          <a:p>
            <a:r>
              <a:rPr lang="en-US" sz="400" dirty="0"/>
              <a:t>    &lt;h1&gt;</a:t>
            </a:r>
            <a:r>
              <a:rPr lang="ru-RU" sz="400" dirty="0"/>
              <a:t>Сервис записи на консультацию&lt;/</a:t>
            </a:r>
            <a:r>
              <a:rPr lang="en-US" sz="400" dirty="0"/>
              <a:t>h1&gt;</a:t>
            </a:r>
          </a:p>
          <a:p>
            <a:r>
              <a:rPr lang="en-US" sz="400" dirty="0"/>
              <a:t>    &lt;p&gt;</a:t>
            </a:r>
            <a:r>
              <a:rPr lang="ru-RU" sz="400" dirty="0"/>
              <a:t>Образовательная платформа для студентов&lt;/</a:t>
            </a:r>
            <a:r>
              <a:rPr lang="en-US" sz="400" dirty="0"/>
              <a:t>p&gt;</a:t>
            </a:r>
          </a:p>
          <a:p>
            <a:r>
              <a:rPr lang="en-US" sz="400" dirty="0"/>
              <a:t>&lt;/header&gt;</a:t>
            </a:r>
          </a:p>
          <a:p>
            <a:r>
              <a:rPr lang="en-US" sz="400" dirty="0"/>
              <a:t/>
            </a:r>
            <a:br>
              <a:rPr lang="en-US" sz="400" dirty="0"/>
            </a:br>
            <a:r>
              <a:rPr lang="en-US" sz="400" dirty="0"/>
              <a:t>&lt;div class="container"&gt;</a:t>
            </a:r>
          </a:p>
          <a:p>
            <a:r>
              <a:rPr lang="en-US" sz="400" dirty="0"/>
              <a:t/>
            </a:r>
            <a:br>
              <a:rPr lang="en-US" sz="400" dirty="0"/>
            </a:br>
            <a:r>
              <a:rPr lang="en-US" sz="400" dirty="0"/>
              <a:t>    &lt;section class="card"&gt;</a:t>
            </a:r>
          </a:p>
          <a:p>
            <a:r>
              <a:rPr lang="en-US" sz="400" dirty="0"/>
              <a:t>        &lt;h2&gt;</a:t>
            </a:r>
            <a:r>
              <a:rPr lang="ru-RU" sz="400" dirty="0"/>
              <a:t>Запись на консультацию&lt;/</a:t>
            </a:r>
            <a:r>
              <a:rPr lang="en-US" sz="400" dirty="0"/>
              <a:t>h2&gt;</a:t>
            </a:r>
          </a:p>
          <a:p>
            <a:r>
              <a:rPr lang="en-US" sz="400" dirty="0"/>
              <a:t/>
            </a:r>
            <a:br>
              <a:rPr lang="en-US" sz="400" dirty="0"/>
            </a:br>
            <a:r>
              <a:rPr lang="en-US" sz="400" dirty="0"/>
              <a:t>        &lt;form id="</a:t>
            </a:r>
            <a:r>
              <a:rPr lang="en-US" sz="400" dirty="0" err="1"/>
              <a:t>bookingForm</a:t>
            </a:r>
            <a:r>
              <a:rPr lang="en-US" sz="400" dirty="0"/>
              <a:t>"&gt;</a:t>
            </a:r>
          </a:p>
          <a:p>
            <a:r>
              <a:rPr lang="en-US" sz="400" dirty="0"/>
              <a:t>            &lt;div&gt;</a:t>
            </a:r>
          </a:p>
          <a:p>
            <a:r>
              <a:rPr lang="en-US" sz="400" dirty="0"/>
              <a:t>                &lt;label for="student"&gt;</a:t>
            </a:r>
            <a:r>
              <a:rPr lang="ru-RU" sz="400" dirty="0"/>
              <a:t>Имя студента&lt;/</a:t>
            </a:r>
            <a:r>
              <a:rPr lang="en-US" sz="400" dirty="0"/>
              <a:t>label&gt;</a:t>
            </a:r>
          </a:p>
          <a:p>
            <a:r>
              <a:rPr lang="en-US" sz="400" dirty="0"/>
              <a:t>                &lt;input id="student" type="text" </a:t>
            </a:r>
            <a:r>
              <a:rPr lang="en-US" sz="400" dirty="0" err="1"/>
              <a:t>minlength</a:t>
            </a:r>
            <a:r>
              <a:rPr lang="en-US" sz="400" dirty="0"/>
              <a:t>="2"</a:t>
            </a:r>
          </a:p>
          <a:p>
            <a:r>
              <a:rPr lang="en-US" sz="400" dirty="0"/>
              <a:t>                       </a:t>
            </a:r>
            <a:r>
              <a:rPr lang="en-US" sz="400" dirty="0" err="1"/>
              <a:t>maxlength</a:t>
            </a:r>
            <a:r>
              <a:rPr lang="en-US" sz="400" dirty="0"/>
              <a:t>="50" required&gt;</a:t>
            </a:r>
          </a:p>
          <a:p>
            <a:r>
              <a:rPr lang="en-US" sz="400" dirty="0"/>
              <a:t>            &lt;/div&gt;</a:t>
            </a:r>
          </a:p>
          <a:p>
            <a:r>
              <a:rPr lang="en-US" sz="400" dirty="0"/>
              <a:t/>
            </a:r>
            <a:br>
              <a:rPr lang="en-US" sz="400" dirty="0"/>
            </a:br>
            <a:r>
              <a:rPr lang="en-US" sz="400" dirty="0"/>
              <a:t>            &lt;div&gt;</a:t>
            </a:r>
          </a:p>
          <a:p>
            <a:r>
              <a:rPr lang="en-US" sz="400" dirty="0"/>
              <a:t>                &lt;label for="teacher"&gt;</a:t>
            </a:r>
            <a:r>
              <a:rPr lang="ru-RU" sz="400" dirty="0"/>
              <a:t>Преподаватель&lt;/</a:t>
            </a:r>
            <a:r>
              <a:rPr lang="en-US" sz="400" dirty="0"/>
              <a:t>label&gt;</a:t>
            </a:r>
          </a:p>
          <a:p>
            <a:r>
              <a:rPr lang="en-US" sz="400" dirty="0"/>
              <a:t>                &lt;select id="teacher" required&gt;</a:t>
            </a:r>
          </a:p>
          <a:p>
            <a:r>
              <a:rPr lang="en-US" sz="400" dirty="0"/>
              <a:t>                    &lt;option value=""&gt;</a:t>
            </a:r>
            <a:r>
              <a:rPr lang="ru-RU" sz="400" dirty="0"/>
              <a:t>Выберите преподавателя&lt;/</a:t>
            </a:r>
            <a:r>
              <a:rPr lang="en-US" sz="400" dirty="0"/>
              <a:t>option&gt;</a:t>
            </a:r>
          </a:p>
          <a:p>
            <a:r>
              <a:rPr lang="en-US" sz="400" dirty="0"/>
              <a:t>                    &lt;option value="</a:t>
            </a:r>
            <a:r>
              <a:rPr lang="ru-RU" sz="400" dirty="0"/>
              <a:t>Иванов И.И."&gt;Иванов И.И.&lt;/</a:t>
            </a:r>
            <a:r>
              <a:rPr lang="en-US" sz="400" dirty="0"/>
              <a:t>option&gt;</a:t>
            </a:r>
          </a:p>
          <a:p>
            <a:r>
              <a:rPr lang="en-US" sz="400" dirty="0"/>
              <a:t>                    &lt;option value="</a:t>
            </a:r>
            <a:r>
              <a:rPr lang="ru-RU" sz="400" dirty="0"/>
              <a:t>Петрова А.А."&gt;Петрова А.А.&lt;/</a:t>
            </a:r>
            <a:r>
              <a:rPr lang="en-US" sz="400" dirty="0"/>
              <a:t>option&gt;</a:t>
            </a:r>
          </a:p>
          <a:p>
            <a:r>
              <a:rPr lang="en-US" sz="400" dirty="0"/>
              <a:t>                    &lt;option value="</a:t>
            </a:r>
            <a:r>
              <a:rPr lang="ru-RU" sz="400" dirty="0"/>
              <a:t>Сидоров Б.Б."&gt;Сидоров Б.Б.&lt;/</a:t>
            </a:r>
            <a:r>
              <a:rPr lang="en-US" sz="400" dirty="0"/>
              <a:t>option&gt;</a:t>
            </a:r>
          </a:p>
          <a:p>
            <a:r>
              <a:rPr lang="en-US" sz="400" dirty="0"/>
              <a:t>                &lt;/select&gt;</a:t>
            </a:r>
          </a:p>
          <a:p>
            <a:r>
              <a:rPr lang="en-US" sz="400" dirty="0"/>
              <a:t>            &lt;/div&gt;</a:t>
            </a:r>
          </a:p>
          <a:p>
            <a:r>
              <a:rPr lang="en-US" sz="400" dirty="0"/>
              <a:t/>
            </a:r>
            <a:br>
              <a:rPr lang="en-US" sz="400" dirty="0"/>
            </a:br>
            <a:r>
              <a:rPr lang="en-US" sz="400" dirty="0"/>
              <a:t>            &lt;div&gt;</a:t>
            </a:r>
          </a:p>
          <a:p>
            <a:r>
              <a:rPr lang="en-US" sz="400" dirty="0"/>
              <a:t>                &lt;label for="date"&gt;</a:t>
            </a:r>
            <a:r>
              <a:rPr lang="ru-RU" sz="400" dirty="0"/>
              <a:t>Дата&lt;/</a:t>
            </a:r>
            <a:r>
              <a:rPr lang="en-US" sz="400" dirty="0"/>
              <a:t>label&gt;</a:t>
            </a:r>
          </a:p>
          <a:p>
            <a:r>
              <a:rPr lang="en-US" sz="400" dirty="0"/>
              <a:t>                &lt;select id="date" required&gt;</a:t>
            </a:r>
          </a:p>
          <a:p>
            <a:r>
              <a:rPr lang="en-US" sz="400" dirty="0"/>
              <a:t>                    &lt;option value=""&gt;</a:t>
            </a:r>
            <a:r>
              <a:rPr lang="ru-RU" sz="400" dirty="0"/>
              <a:t>Выберите дату&lt;/</a:t>
            </a:r>
            <a:r>
              <a:rPr lang="en-US" sz="400" dirty="0"/>
              <a:t>option&gt;</a:t>
            </a:r>
          </a:p>
          <a:p>
            <a:r>
              <a:rPr lang="en-US" sz="400" dirty="0"/>
              <a:t>                &lt;/select&gt;</a:t>
            </a:r>
          </a:p>
          <a:p>
            <a:r>
              <a:rPr lang="en-US" sz="400" dirty="0"/>
              <a:t>            &lt;/div&gt;</a:t>
            </a:r>
          </a:p>
          <a:p>
            <a:r>
              <a:rPr lang="en-US" sz="400" dirty="0"/>
              <a:t/>
            </a:r>
            <a:br>
              <a:rPr lang="en-US" sz="400" dirty="0"/>
            </a:br>
            <a:r>
              <a:rPr lang="en-US" sz="400" dirty="0"/>
              <a:t>            &lt;div&gt;</a:t>
            </a:r>
          </a:p>
          <a:p>
            <a:r>
              <a:rPr lang="en-US" sz="400" dirty="0"/>
              <a:t>                &lt;label for="time"&gt;</a:t>
            </a:r>
            <a:r>
              <a:rPr lang="ru-RU" sz="400" dirty="0"/>
              <a:t>Время&lt;/</a:t>
            </a:r>
            <a:r>
              <a:rPr lang="en-US" sz="400" dirty="0"/>
              <a:t>label&gt;</a:t>
            </a:r>
          </a:p>
          <a:p>
            <a:r>
              <a:rPr lang="en-US" sz="400" dirty="0"/>
              <a:t>                &lt;select id="time" required&gt;</a:t>
            </a:r>
          </a:p>
          <a:p>
            <a:r>
              <a:rPr lang="en-US" sz="400" dirty="0"/>
              <a:t>                    &lt;option value=""&gt;</a:t>
            </a:r>
            <a:r>
              <a:rPr lang="ru-RU" sz="400" dirty="0"/>
              <a:t>Выберите время&lt;/</a:t>
            </a:r>
            <a:r>
              <a:rPr lang="en-US" sz="400" dirty="0"/>
              <a:t>option&gt;</a:t>
            </a:r>
          </a:p>
          <a:p>
            <a:r>
              <a:rPr lang="en-US" sz="400" dirty="0"/>
              <a:t>                &lt;/select&gt;</a:t>
            </a:r>
          </a:p>
          <a:p>
            <a:r>
              <a:rPr lang="en-US" sz="400" dirty="0"/>
              <a:t>            &lt;/div&gt;</a:t>
            </a:r>
          </a:p>
          <a:p>
            <a:r>
              <a:rPr lang="en-US" sz="400" dirty="0"/>
              <a:t/>
            </a:r>
            <a:br>
              <a:rPr lang="en-US" sz="400" dirty="0"/>
            </a:br>
            <a:r>
              <a:rPr lang="en-US" sz="400" dirty="0"/>
              <a:t>            &lt;div class="full"&gt;</a:t>
            </a:r>
          </a:p>
          <a:p>
            <a:r>
              <a:rPr lang="en-US" sz="400" dirty="0"/>
              <a:t>                &lt;label for="topic"&gt;</a:t>
            </a:r>
            <a:r>
              <a:rPr lang="ru-RU" sz="400" dirty="0"/>
              <a:t>Тема консультации&lt;/</a:t>
            </a:r>
            <a:r>
              <a:rPr lang="en-US" sz="400" dirty="0"/>
              <a:t>label&gt;</a:t>
            </a:r>
          </a:p>
          <a:p>
            <a:r>
              <a:rPr lang="en-US" sz="400" dirty="0"/>
              <a:t>                &lt;</a:t>
            </a:r>
            <a:r>
              <a:rPr lang="en-US" sz="400" dirty="0" err="1"/>
              <a:t>textarea</a:t>
            </a:r>
            <a:r>
              <a:rPr lang="en-US" sz="400" dirty="0"/>
              <a:t> id="topic" rows="3"</a:t>
            </a:r>
          </a:p>
          <a:p>
            <a:r>
              <a:rPr lang="en-US" sz="400" dirty="0"/>
              <a:t>                          </a:t>
            </a:r>
            <a:r>
              <a:rPr lang="en-US" sz="400" dirty="0" err="1"/>
              <a:t>minlength</a:t>
            </a:r>
            <a:r>
              <a:rPr lang="en-US" sz="400" dirty="0"/>
              <a:t>="3" </a:t>
            </a:r>
            <a:r>
              <a:rPr lang="en-US" sz="400" dirty="0" err="1"/>
              <a:t>maxlength</a:t>
            </a:r>
            <a:r>
              <a:rPr lang="en-US" sz="400" dirty="0"/>
              <a:t>="200"</a:t>
            </a:r>
          </a:p>
          <a:p>
            <a:r>
              <a:rPr lang="en-US" sz="400" dirty="0"/>
              <a:t>                          required&gt;&lt;/</a:t>
            </a:r>
            <a:r>
              <a:rPr lang="en-US" sz="400" dirty="0" err="1"/>
              <a:t>textarea</a:t>
            </a:r>
            <a:r>
              <a:rPr lang="en-US" sz="400" dirty="0"/>
              <a:t>&gt;</a:t>
            </a:r>
          </a:p>
          <a:p>
            <a:r>
              <a:rPr lang="en-US" sz="400" dirty="0"/>
              <a:t>            &lt;/div&gt;</a:t>
            </a:r>
          </a:p>
          <a:p>
            <a:r>
              <a:rPr lang="en-US" sz="400" dirty="0"/>
              <a:t/>
            </a:r>
            <a:br>
              <a:rPr lang="en-US" sz="400" dirty="0"/>
            </a:br>
            <a:r>
              <a:rPr lang="en-US" sz="400" dirty="0"/>
              <a:t>            &lt;div class="full"&gt;</a:t>
            </a:r>
          </a:p>
          <a:p>
            <a:r>
              <a:rPr lang="en-US" sz="400" dirty="0"/>
              <a:t>                &lt;button type="submit"&gt;</a:t>
            </a:r>
            <a:r>
              <a:rPr lang="ru-RU" sz="400" dirty="0"/>
              <a:t>Записаться&lt;/</a:t>
            </a:r>
            <a:r>
              <a:rPr lang="en-US" sz="400" dirty="0"/>
              <a:t>button&gt;</a:t>
            </a:r>
          </a:p>
          <a:p>
            <a:r>
              <a:rPr lang="en-US" sz="400" dirty="0"/>
              <a:t>                &lt;p id="message"&gt;&lt;/p&gt;</a:t>
            </a:r>
          </a:p>
          <a:p>
            <a:r>
              <a:rPr lang="en-US" sz="400" dirty="0"/>
              <a:t>            &lt;/div&gt;</a:t>
            </a:r>
          </a:p>
          <a:p>
            <a:r>
              <a:rPr lang="en-US" sz="400" dirty="0"/>
              <a:t>        &lt;/form&gt;</a:t>
            </a:r>
          </a:p>
          <a:p>
            <a:r>
              <a:rPr lang="en-US" sz="400" dirty="0"/>
              <a:t>    &lt;/section&gt;</a:t>
            </a:r>
          </a:p>
          <a:p>
            <a:r>
              <a:rPr lang="en-US" sz="400" dirty="0"/>
              <a:t/>
            </a:r>
            <a:br>
              <a:rPr lang="en-US" sz="400" dirty="0"/>
            </a:br>
            <a:r>
              <a:rPr lang="en-US" sz="400" dirty="0"/>
              <a:t>    &lt;section class="card"&gt;</a:t>
            </a:r>
          </a:p>
          <a:p>
            <a:r>
              <a:rPr lang="en-US" sz="400" dirty="0"/>
              <a:t>        &lt;h2&gt;</a:t>
            </a:r>
            <a:r>
              <a:rPr lang="ru-RU" sz="400" dirty="0"/>
              <a:t>Расписание слотов&lt;/</a:t>
            </a:r>
            <a:r>
              <a:rPr lang="en-US" sz="400" dirty="0"/>
              <a:t>h2&gt;</a:t>
            </a:r>
          </a:p>
          <a:p>
            <a:r>
              <a:rPr lang="en-US" sz="400" dirty="0"/>
              <a:t/>
            </a:r>
            <a:br>
              <a:rPr lang="en-US" sz="400" dirty="0"/>
            </a:br>
            <a:r>
              <a:rPr lang="en-US" sz="400" dirty="0"/>
              <a:t>        &lt;table&gt;</a:t>
            </a:r>
          </a:p>
          <a:p>
            <a:r>
              <a:rPr lang="en-US" sz="400" dirty="0"/>
              <a:t>            &lt;</a:t>
            </a:r>
            <a:r>
              <a:rPr lang="en-US" sz="400" dirty="0" err="1"/>
              <a:t>thead</a:t>
            </a:r>
            <a:r>
              <a:rPr lang="en-US" sz="400" dirty="0"/>
              <a:t>&gt;</a:t>
            </a:r>
          </a:p>
          <a:p>
            <a:r>
              <a:rPr lang="en-US" sz="400" dirty="0"/>
              <a:t>                &lt;</a:t>
            </a:r>
            <a:r>
              <a:rPr lang="en-US" sz="400" dirty="0" err="1"/>
              <a:t>tr</a:t>
            </a:r>
            <a:r>
              <a:rPr lang="en-US" sz="400" dirty="0"/>
              <a:t>&gt;</a:t>
            </a:r>
          </a:p>
          <a:p>
            <a:r>
              <a:rPr lang="en-US" sz="400" dirty="0"/>
              <a:t>                    &lt;</a:t>
            </a:r>
            <a:r>
              <a:rPr lang="en-US" sz="400" dirty="0" err="1"/>
              <a:t>th</a:t>
            </a:r>
            <a:r>
              <a:rPr lang="en-US" sz="400" dirty="0"/>
              <a:t>&gt;</a:t>
            </a:r>
            <a:r>
              <a:rPr lang="ru-RU" sz="400" dirty="0"/>
              <a:t>Преподаватель&lt;/</a:t>
            </a:r>
            <a:r>
              <a:rPr lang="en-US" sz="400" dirty="0" err="1"/>
              <a:t>th</a:t>
            </a:r>
            <a:r>
              <a:rPr lang="en-US" sz="400" dirty="0"/>
              <a:t>&gt;</a:t>
            </a:r>
          </a:p>
          <a:p>
            <a:r>
              <a:rPr lang="en-US" sz="400" dirty="0"/>
              <a:t>                    &lt;</a:t>
            </a:r>
            <a:r>
              <a:rPr lang="en-US" sz="400" dirty="0" err="1"/>
              <a:t>th</a:t>
            </a:r>
            <a:r>
              <a:rPr lang="en-US" sz="400" dirty="0"/>
              <a:t>&gt;</a:t>
            </a:r>
            <a:r>
              <a:rPr lang="ru-RU" sz="400" dirty="0"/>
              <a:t>Дата&lt;/</a:t>
            </a:r>
            <a:r>
              <a:rPr lang="en-US" sz="400" dirty="0" err="1"/>
              <a:t>th</a:t>
            </a:r>
            <a:r>
              <a:rPr lang="en-US" sz="400" dirty="0"/>
              <a:t>&gt;</a:t>
            </a:r>
          </a:p>
          <a:p>
            <a:r>
              <a:rPr lang="en-US" sz="400" dirty="0"/>
              <a:t>                    &lt;</a:t>
            </a:r>
            <a:r>
              <a:rPr lang="en-US" sz="400" dirty="0" err="1"/>
              <a:t>th</a:t>
            </a:r>
            <a:r>
              <a:rPr lang="en-US" sz="400" dirty="0"/>
              <a:t>&gt;</a:t>
            </a:r>
            <a:r>
              <a:rPr lang="ru-RU" sz="400" dirty="0"/>
              <a:t>Время&lt;/</a:t>
            </a:r>
            <a:r>
              <a:rPr lang="en-US" sz="400" dirty="0" err="1"/>
              <a:t>th</a:t>
            </a:r>
            <a:r>
              <a:rPr lang="en-US" sz="400" dirty="0"/>
              <a:t>&gt;</a:t>
            </a:r>
          </a:p>
          <a:p>
            <a:r>
              <a:rPr lang="en-US" sz="400" dirty="0"/>
              <a:t>                    &lt;</a:t>
            </a:r>
            <a:r>
              <a:rPr lang="en-US" sz="400" dirty="0" err="1"/>
              <a:t>th</a:t>
            </a:r>
            <a:r>
              <a:rPr lang="en-US" sz="400" dirty="0"/>
              <a:t>&gt;</a:t>
            </a:r>
            <a:r>
              <a:rPr lang="ru-RU" sz="400" dirty="0"/>
              <a:t>Статус&lt;/</a:t>
            </a:r>
            <a:r>
              <a:rPr lang="en-US" sz="400" dirty="0" err="1"/>
              <a:t>th</a:t>
            </a:r>
            <a:r>
              <a:rPr lang="en-US" sz="400" dirty="0"/>
              <a:t>&gt;</a:t>
            </a:r>
          </a:p>
          <a:p>
            <a:r>
              <a:rPr lang="en-US" sz="400" dirty="0"/>
              <a:t>                &lt;/</a:t>
            </a:r>
            <a:r>
              <a:rPr lang="en-US" sz="400" dirty="0" err="1"/>
              <a:t>tr</a:t>
            </a:r>
            <a:r>
              <a:rPr lang="en-US" sz="400" dirty="0"/>
              <a:t>&gt;</a:t>
            </a:r>
          </a:p>
          <a:p>
            <a:r>
              <a:rPr lang="en-US" sz="400" dirty="0"/>
              <a:t>            &lt;/</a:t>
            </a:r>
            <a:r>
              <a:rPr lang="en-US" sz="400" dirty="0" err="1"/>
              <a:t>thead</a:t>
            </a:r>
            <a:r>
              <a:rPr lang="en-US" sz="400" dirty="0"/>
              <a:t>&gt;</a:t>
            </a:r>
          </a:p>
          <a:p>
            <a:r>
              <a:rPr lang="en-US" sz="400" dirty="0"/>
              <a:t>            &lt;</a:t>
            </a:r>
            <a:r>
              <a:rPr lang="en-US" sz="400" dirty="0" err="1"/>
              <a:t>tbody</a:t>
            </a:r>
            <a:r>
              <a:rPr lang="en-US" sz="400" dirty="0"/>
              <a:t> id="schedule"&gt;&lt;/</a:t>
            </a:r>
            <a:r>
              <a:rPr lang="en-US" sz="400" dirty="0" err="1"/>
              <a:t>tbody</a:t>
            </a:r>
            <a:r>
              <a:rPr lang="en-US" sz="400" dirty="0"/>
              <a:t>&gt;</a:t>
            </a:r>
          </a:p>
          <a:p>
            <a:r>
              <a:rPr lang="en-US" sz="400" dirty="0"/>
              <a:t>        &lt;/table&gt;</a:t>
            </a:r>
          </a:p>
          <a:p>
            <a:r>
              <a:rPr lang="en-US" sz="400" dirty="0"/>
              <a:t>    &lt;/section&gt;</a:t>
            </a:r>
          </a:p>
          <a:p>
            <a:r>
              <a:rPr lang="en-US" sz="400" dirty="0"/>
              <a:t/>
            </a:r>
            <a:br>
              <a:rPr lang="en-US" sz="400" dirty="0"/>
            </a:br>
            <a:r>
              <a:rPr lang="en-US" sz="400" dirty="0"/>
              <a:t>    &lt;section class="card"&gt;</a:t>
            </a:r>
          </a:p>
          <a:p>
            <a:r>
              <a:rPr lang="en-US" sz="400" dirty="0"/>
              <a:t>        &lt;h2&gt;</a:t>
            </a:r>
            <a:r>
              <a:rPr lang="ru-RU" sz="400" dirty="0"/>
              <a:t>Мои заявки&lt;/</a:t>
            </a:r>
            <a:r>
              <a:rPr lang="en-US" sz="400" dirty="0"/>
              <a:t>h2&gt;</a:t>
            </a:r>
          </a:p>
          <a:p>
            <a:r>
              <a:rPr lang="en-US" sz="400" dirty="0"/>
              <a:t>        &lt;div id="</a:t>
            </a:r>
            <a:r>
              <a:rPr lang="en-US" sz="400" dirty="0" err="1"/>
              <a:t>bookingsList</a:t>
            </a:r>
            <a:r>
              <a:rPr lang="en-US" sz="400" dirty="0"/>
              <a:t>"&gt;</a:t>
            </a:r>
            <a:r>
              <a:rPr lang="ru-RU" sz="400" dirty="0"/>
              <a:t>Пока нет заявок.&lt;/</a:t>
            </a:r>
            <a:r>
              <a:rPr lang="en-US" sz="400" dirty="0"/>
              <a:t>div&gt;</a:t>
            </a:r>
          </a:p>
          <a:p>
            <a:r>
              <a:rPr lang="en-US" sz="400" dirty="0"/>
              <a:t>    &lt;/section&gt;</a:t>
            </a:r>
          </a:p>
          <a:p>
            <a:r>
              <a:rPr lang="en-US" sz="400" dirty="0"/>
              <a:t/>
            </a:r>
            <a:br>
              <a:rPr lang="en-US" sz="400" dirty="0"/>
            </a:br>
            <a:r>
              <a:rPr lang="en-US" sz="400" dirty="0"/>
              <a:t>&lt;/div&gt;</a:t>
            </a:r>
          </a:p>
          <a:p>
            <a:r>
              <a:rPr lang="en-US" sz="400" dirty="0"/>
              <a:t/>
            </a:r>
            <a:br>
              <a:rPr lang="en-US" sz="400" dirty="0"/>
            </a:br>
            <a:r>
              <a:rPr lang="en-US" sz="400" dirty="0"/>
              <a:t>&lt;script </a:t>
            </a:r>
            <a:r>
              <a:rPr lang="en-US" sz="400" dirty="0" err="1"/>
              <a:t>src</a:t>
            </a:r>
            <a:r>
              <a:rPr lang="en-US" sz="400" dirty="0"/>
              <a:t>="script.js"&gt;&lt;/script&gt;</a:t>
            </a:r>
          </a:p>
          <a:p>
            <a:r>
              <a:rPr lang="en-US" sz="400" dirty="0"/>
              <a:t>&lt;/body&gt;</a:t>
            </a:r>
          </a:p>
          <a:p>
            <a:r>
              <a:rPr lang="en-US" sz="400" dirty="0"/>
              <a:t>&lt;/html&gt;</a:t>
            </a:r>
          </a:p>
          <a:p>
            <a:r>
              <a:rPr lang="en-US" sz="500" dirty="0"/>
              <a:t/>
            </a:r>
            <a:br>
              <a:rPr lang="en-US" sz="500" dirty="0"/>
            </a:br>
            <a:endParaRPr lang="en-US" sz="400" dirty="0"/>
          </a:p>
          <a:p>
            <a:endParaRPr lang="en-US" sz="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3571190" cy="5638800"/>
          </a:xfrm>
          <a:prstGeom prst="roundRect">
            <a:avLst>
              <a:gd name="adj" fmla="val 11949"/>
            </a:avLst>
          </a:prstGeom>
          <a:solidFill>
            <a:srgbClr val="F4A259"/>
          </a:solidFill>
          <a:ln/>
        </p:spPr>
      </p:sp>
      <p:sp>
        <p:nvSpPr>
          <p:cNvPr id="4" name="Shape 1"/>
          <p:cNvSpPr/>
          <p:nvPr/>
        </p:nvSpPr>
        <p:spPr>
          <a:xfrm>
            <a:off x="4841059" y="609600"/>
            <a:ext cx="6741051" cy="5638800"/>
          </a:xfrm>
          <a:prstGeom prst="roundRect">
            <a:avLst>
              <a:gd name="adj" fmla="val 7567"/>
            </a:avLst>
          </a:prstGeom>
          <a:solidFill>
            <a:srgbClr val="FFF6E3"/>
          </a:solidFill>
          <a:ln/>
        </p:spPr>
      </p:sp>
      <p:sp>
        <p:nvSpPr>
          <p:cNvPr id="5" name="Text 2"/>
          <p:cNvSpPr/>
          <p:nvPr/>
        </p:nvSpPr>
        <p:spPr>
          <a:xfrm>
            <a:off x="5450644" y="1234250"/>
            <a:ext cx="5521881" cy="633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800" kern="100" spc="-96" dirty="0">
                <a:solidFill>
                  <a:srgbClr val="000000"/>
                </a:solidFill>
                <a:latin typeface="Orelega One" pitchFamily="34" charset="0"/>
                <a:ea typeface="Orelega One" pitchFamily="34" charset="-122"/>
                <a:cs typeface="Orelega One" pitchFamily="34" charset="-120"/>
              </a:rPr>
              <a:t>Код на Java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5450644" y="2081709"/>
            <a:ext cx="5521881" cy="2239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Также в презентации представлен пример на Java. Здесь создан класс Slot, который хранит время начала и окончания консультации, а также состояние бронирования. Метод overlaps проверяет пересечение интервалов. Этот пример показывает, как можно реализовать подобную логику на другом языке программирования.</a:t>
            </a:r>
            <a:endParaRPr lang="en-US" sz="18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525" y="6524578"/>
            <a:ext cx="1219475" cy="3334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0575" y="609600"/>
            <a:ext cx="3228975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const</a:t>
            </a:r>
            <a:r>
              <a:rPr lang="en-US" sz="800" dirty="0"/>
              <a:t> teachers = [</a:t>
            </a:r>
          </a:p>
          <a:p>
            <a:r>
              <a:rPr lang="en-US" sz="800" dirty="0"/>
              <a:t>    "</a:t>
            </a:r>
            <a:r>
              <a:rPr lang="ru-RU" sz="800" dirty="0"/>
              <a:t>Иванов И.И.",</a:t>
            </a:r>
          </a:p>
          <a:p>
            <a:r>
              <a:rPr lang="ru-RU" sz="800" dirty="0"/>
              <a:t>    "Петрова А.А.",</a:t>
            </a:r>
          </a:p>
          <a:p>
            <a:r>
              <a:rPr lang="ru-RU" sz="800" dirty="0"/>
              <a:t>    "Сидоров Б.Б."</a:t>
            </a:r>
          </a:p>
          <a:p>
            <a:r>
              <a:rPr lang="ru-RU" sz="800" dirty="0"/>
              <a:t>];</a:t>
            </a:r>
          </a:p>
          <a:p>
            <a:r>
              <a:rPr lang="ru-RU" sz="800" dirty="0"/>
              <a:t/>
            </a:r>
            <a:br>
              <a:rPr lang="ru-RU" sz="800" dirty="0"/>
            </a:br>
            <a:r>
              <a:rPr lang="en-US" sz="800" dirty="0" err="1"/>
              <a:t>const</a:t>
            </a:r>
            <a:r>
              <a:rPr lang="en-US" sz="800" dirty="0"/>
              <a:t> times = ["10:00", "11:00", "14:00", "15:00"];</a:t>
            </a:r>
          </a:p>
          <a:p>
            <a:r>
              <a:rPr lang="en-US" sz="800" dirty="0"/>
              <a:t/>
            </a:r>
            <a:br>
              <a:rPr lang="en-US" sz="800" dirty="0"/>
            </a:br>
            <a:r>
              <a:rPr lang="en-US" sz="800" dirty="0" err="1"/>
              <a:t>const</a:t>
            </a:r>
            <a:r>
              <a:rPr lang="en-US" sz="800" dirty="0"/>
              <a:t> </a:t>
            </a:r>
            <a:r>
              <a:rPr lang="en-US" sz="800" dirty="0" err="1"/>
              <a:t>teacherSelect</a:t>
            </a:r>
            <a:r>
              <a:rPr lang="en-US" sz="800" dirty="0"/>
              <a:t> = </a:t>
            </a:r>
            <a:r>
              <a:rPr lang="en-US" sz="800" dirty="0" err="1"/>
              <a:t>document.getElementById</a:t>
            </a:r>
            <a:r>
              <a:rPr lang="en-US" sz="800" dirty="0"/>
              <a:t>("teacher");</a:t>
            </a:r>
          </a:p>
          <a:p>
            <a:r>
              <a:rPr lang="en-US" sz="800" dirty="0" err="1"/>
              <a:t>const</a:t>
            </a:r>
            <a:r>
              <a:rPr lang="en-US" sz="800" dirty="0"/>
              <a:t> </a:t>
            </a:r>
            <a:r>
              <a:rPr lang="en-US" sz="800" dirty="0" err="1"/>
              <a:t>dateSelect</a:t>
            </a:r>
            <a:r>
              <a:rPr lang="en-US" sz="800" dirty="0"/>
              <a:t> = </a:t>
            </a:r>
            <a:r>
              <a:rPr lang="en-US" sz="800" dirty="0" err="1"/>
              <a:t>document.getElementById</a:t>
            </a:r>
            <a:r>
              <a:rPr lang="en-US" sz="800" dirty="0"/>
              <a:t>("date");</a:t>
            </a:r>
          </a:p>
          <a:p>
            <a:r>
              <a:rPr lang="en-US" sz="800" dirty="0" err="1"/>
              <a:t>const</a:t>
            </a:r>
            <a:r>
              <a:rPr lang="en-US" sz="800" dirty="0"/>
              <a:t> </a:t>
            </a:r>
            <a:r>
              <a:rPr lang="en-US" sz="800" dirty="0" err="1"/>
              <a:t>timeSelect</a:t>
            </a:r>
            <a:r>
              <a:rPr lang="en-US" sz="800" dirty="0"/>
              <a:t> = </a:t>
            </a:r>
            <a:r>
              <a:rPr lang="en-US" sz="800" dirty="0" err="1"/>
              <a:t>document.getElementById</a:t>
            </a:r>
            <a:r>
              <a:rPr lang="en-US" sz="800" dirty="0"/>
              <a:t>("time");</a:t>
            </a:r>
          </a:p>
          <a:p>
            <a:r>
              <a:rPr lang="en-US" sz="800" dirty="0" err="1"/>
              <a:t>const</a:t>
            </a:r>
            <a:r>
              <a:rPr lang="en-US" sz="800" dirty="0"/>
              <a:t> form = </a:t>
            </a:r>
            <a:r>
              <a:rPr lang="en-US" sz="800" dirty="0" err="1"/>
              <a:t>document.getElementById</a:t>
            </a:r>
            <a:r>
              <a:rPr lang="en-US" sz="800" dirty="0"/>
              <a:t>("</a:t>
            </a:r>
            <a:r>
              <a:rPr lang="en-US" sz="800" dirty="0" err="1"/>
              <a:t>bookingForm</a:t>
            </a:r>
            <a:r>
              <a:rPr lang="en-US" sz="800" dirty="0"/>
              <a:t>");</a:t>
            </a:r>
          </a:p>
          <a:p>
            <a:r>
              <a:rPr lang="en-US" sz="800" dirty="0" err="1"/>
              <a:t>const</a:t>
            </a:r>
            <a:r>
              <a:rPr lang="en-US" sz="800" dirty="0"/>
              <a:t> message = </a:t>
            </a:r>
            <a:r>
              <a:rPr lang="en-US" sz="800" dirty="0" err="1"/>
              <a:t>document.getElementById</a:t>
            </a:r>
            <a:r>
              <a:rPr lang="en-US" sz="800" dirty="0"/>
              <a:t>("message");</a:t>
            </a:r>
          </a:p>
          <a:p>
            <a:r>
              <a:rPr lang="en-US" sz="800" dirty="0"/>
              <a:t/>
            </a:r>
            <a:br>
              <a:rPr lang="en-US" sz="800" dirty="0"/>
            </a:br>
            <a:r>
              <a:rPr lang="en-US" sz="800" dirty="0"/>
              <a:t>let bookings = [];</a:t>
            </a:r>
          </a:p>
          <a:p>
            <a:r>
              <a:rPr lang="en-US" sz="800" dirty="0"/>
              <a:t>let slots = [];</a:t>
            </a:r>
          </a:p>
          <a:p>
            <a:r>
              <a:rPr lang="en-US" sz="800" dirty="0"/>
              <a:t/>
            </a:r>
            <a:br>
              <a:rPr lang="en-US" sz="800" dirty="0"/>
            </a:br>
            <a:r>
              <a:rPr lang="en-US" sz="800" dirty="0"/>
              <a:t>function </a:t>
            </a:r>
            <a:r>
              <a:rPr lang="en-US" sz="800" dirty="0" err="1"/>
              <a:t>createSchedule</a:t>
            </a:r>
            <a:r>
              <a:rPr lang="en-US" sz="800" dirty="0"/>
              <a:t>() {</a:t>
            </a:r>
          </a:p>
          <a:p>
            <a:r>
              <a:rPr lang="en-US" sz="800" dirty="0"/>
              <a:t>    </a:t>
            </a:r>
            <a:r>
              <a:rPr lang="en-US" sz="800" dirty="0" err="1"/>
              <a:t>const</a:t>
            </a:r>
            <a:r>
              <a:rPr lang="en-US" sz="800" dirty="0"/>
              <a:t> today = new Date();</a:t>
            </a:r>
          </a:p>
          <a:p>
            <a:r>
              <a:rPr lang="en-US" sz="800" dirty="0"/>
              <a:t/>
            </a:r>
            <a:br>
              <a:rPr lang="en-US" sz="800" dirty="0"/>
            </a:br>
            <a:r>
              <a:rPr lang="en-US" sz="800" dirty="0"/>
              <a:t>    for (let </a:t>
            </a:r>
            <a:r>
              <a:rPr lang="en-US" sz="800" dirty="0" err="1"/>
              <a:t>i</a:t>
            </a:r>
            <a:r>
              <a:rPr lang="en-US" sz="800" dirty="0"/>
              <a:t> = 0; </a:t>
            </a:r>
            <a:r>
              <a:rPr lang="en-US" sz="800" dirty="0" err="1"/>
              <a:t>i</a:t>
            </a:r>
            <a:r>
              <a:rPr lang="en-US" sz="800" dirty="0"/>
              <a:t> &lt; 7; </a:t>
            </a:r>
            <a:r>
              <a:rPr lang="en-US" sz="800" dirty="0" err="1"/>
              <a:t>i</a:t>
            </a:r>
            <a:r>
              <a:rPr lang="en-US" sz="800" dirty="0"/>
              <a:t>++) {</a:t>
            </a:r>
          </a:p>
          <a:p>
            <a:r>
              <a:rPr lang="en-US" sz="800" dirty="0"/>
              <a:t>        </a:t>
            </a:r>
            <a:r>
              <a:rPr lang="en-US" sz="800" dirty="0" err="1"/>
              <a:t>const</a:t>
            </a:r>
            <a:r>
              <a:rPr lang="en-US" sz="800" dirty="0"/>
              <a:t> day = new Date(today);</a:t>
            </a:r>
          </a:p>
          <a:p>
            <a:r>
              <a:rPr lang="en-US" sz="800" dirty="0"/>
              <a:t>        </a:t>
            </a:r>
            <a:r>
              <a:rPr lang="en-US" sz="800" dirty="0" err="1"/>
              <a:t>day.setDate</a:t>
            </a:r>
            <a:r>
              <a:rPr lang="en-US" sz="800" dirty="0"/>
              <a:t>(</a:t>
            </a:r>
            <a:r>
              <a:rPr lang="en-US" sz="800" dirty="0" err="1"/>
              <a:t>today.getDate</a:t>
            </a:r>
            <a:r>
              <a:rPr lang="en-US" sz="800" dirty="0"/>
              <a:t>() + </a:t>
            </a:r>
            <a:r>
              <a:rPr lang="en-US" sz="800" dirty="0" err="1"/>
              <a:t>i</a:t>
            </a:r>
            <a:r>
              <a:rPr lang="en-US" sz="800" dirty="0"/>
              <a:t>);</a:t>
            </a:r>
          </a:p>
          <a:p>
            <a:r>
              <a:rPr lang="en-US" sz="800" dirty="0"/>
              <a:t/>
            </a:r>
            <a:br>
              <a:rPr lang="en-US" sz="800" dirty="0"/>
            </a:br>
            <a:r>
              <a:rPr lang="en-US" sz="800" dirty="0"/>
              <a:t>        if (</a:t>
            </a:r>
            <a:r>
              <a:rPr lang="en-US" sz="800" dirty="0" err="1"/>
              <a:t>day.getDay</a:t>
            </a:r>
            <a:r>
              <a:rPr lang="en-US" sz="800" dirty="0"/>
              <a:t>() === 0 || </a:t>
            </a:r>
            <a:r>
              <a:rPr lang="en-US" sz="800" dirty="0" err="1"/>
              <a:t>day.getDay</a:t>
            </a:r>
            <a:r>
              <a:rPr lang="en-US" sz="800" dirty="0"/>
              <a:t>() === 6) {</a:t>
            </a:r>
          </a:p>
          <a:p>
            <a:r>
              <a:rPr lang="en-US" sz="800" dirty="0"/>
              <a:t>            continue;</a:t>
            </a:r>
          </a:p>
          <a:p>
            <a:r>
              <a:rPr lang="en-US" sz="800" dirty="0"/>
              <a:t>        }</a:t>
            </a:r>
          </a:p>
          <a:p>
            <a:r>
              <a:rPr lang="en-US" sz="800" dirty="0"/>
              <a:t/>
            </a:r>
            <a:br>
              <a:rPr lang="en-US" sz="800" dirty="0"/>
            </a:br>
            <a:r>
              <a:rPr lang="en-US" sz="800" dirty="0"/>
              <a:t>        </a:t>
            </a:r>
            <a:r>
              <a:rPr lang="en-US" sz="800" dirty="0" err="1"/>
              <a:t>const</a:t>
            </a:r>
            <a:r>
              <a:rPr lang="en-US" sz="800" dirty="0"/>
              <a:t> date = [</a:t>
            </a:r>
          </a:p>
          <a:p>
            <a:r>
              <a:rPr lang="en-US" sz="800" dirty="0"/>
              <a:t>            </a:t>
            </a:r>
            <a:r>
              <a:rPr lang="en-US" sz="800" dirty="0" err="1"/>
              <a:t>day.getFullYear</a:t>
            </a:r>
            <a:r>
              <a:rPr lang="en-US" sz="800" dirty="0"/>
              <a:t>(),</a:t>
            </a:r>
          </a:p>
          <a:p>
            <a:r>
              <a:rPr lang="en-US" sz="800" dirty="0"/>
              <a:t>            String(</a:t>
            </a:r>
            <a:r>
              <a:rPr lang="en-US" sz="800" dirty="0" err="1"/>
              <a:t>day.getMonth</a:t>
            </a:r>
            <a:r>
              <a:rPr lang="en-US" sz="800" dirty="0"/>
              <a:t>() + 1).</a:t>
            </a:r>
            <a:r>
              <a:rPr lang="en-US" sz="800" dirty="0" err="1"/>
              <a:t>padStart</a:t>
            </a:r>
            <a:r>
              <a:rPr lang="en-US" sz="800" dirty="0"/>
              <a:t>(2, "0"),</a:t>
            </a:r>
          </a:p>
          <a:p>
            <a:r>
              <a:rPr lang="en-US" sz="800" dirty="0"/>
              <a:t>            String(</a:t>
            </a:r>
            <a:r>
              <a:rPr lang="en-US" sz="800" dirty="0" err="1"/>
              <a:t>day.getDate</a:t>
            </a:r>
            <a:r>
              <a:rPr lang="en-US" sz="800" dirty="0"/>
              <a:t>()).</a:t>
            </a:r>
            <a:r>
              <a:rPr lang="en-US" sz="800" dirty="0" err="1"/>
              <a:t>padStart</a:t>
            </a:r>
            <a:r>
              <a:rPr lang="en-US" sz="800" dirty="0"/>
              <a:t>(2, "0")</a:t>
            </a:r>
          </a:p>
          <a:p>
            <a:r>
              <a:rPr lang="en-US" sz="800" dirty="0"/>
              <a:t>        ].join("-");</a:t>
            </a:r>
          </a:p>
          <a:p>
            <a:r>
              <a:rPr lang="en-US" sz="800" dirty="0"/>
              <a:t/>
            </a:r>
            <a:br>
              <a:rPr lang="en-US" sz="800" dirty="0"/>
            </a:br>
            <a:r>
              <a:rPr lang="en-US" sz="800" dirty="0"/>
              <a:t>        </a:t>
            </a:r>
            <a:r>
              <a:rPr lang="en-US" sz="800" dirty="0" err="1"/>
              <a:t>teachers.forEach</a:t>
            </a:r>
            <a:r>
              <a:rPr lang="en-US" sz="800" dirty="0"/>
              <a:t>(teacher =&gt; {</a:t>
            </a:r>
          </a:p>
          <a:p>
            <a:r>
              <a:rPr lang="en-US" sz="800" dirty="0"/>
              <a:t>            </a:t>
            </a:r>
            <a:r>
              <a:rPr lang="en-US" sz="800" dirty="0" err="1"/>
              <a:t>times.forEach</a:t>
            </a:r>
            <a:r>
              <a:rPr lang="en-US" sz="800" dirty="0"/>
              <a:t>(time =&gt; {</a:t>
            </a:r>
          </a:p>
          <a:p>
            <a:r>
              <a:rPr lang="en-US" sz="800" dirty="0"/>
              <a:t>                </a:t>
            </a:r>
            <a:r>
              <a:rPr lang="en-US" sz="800" dirty="0" err="1"/>
              <a:t>const</a:t>
            </a:r>
            <a:r>
              <a:rPr lang="en-US" sz="800" dirty="0"/>
              <a:t> </a:t>
            </a:r>
            <a:r>
              <a:rPr lang="en-US" sz="800" dirty="0" err="1"/>
              <a:t>slotDate</a:t>
            </a:r>
            <a:r>
              <a:rPr lang="en-US" sz="800" dirty="0"/>
              <a:t> = new Date(date + "T" + time);</a:t>
            </a:r>
          </a:p>
          <a:p>
            <a:r>
              <a:rPr lang="en-US" sz="800" dirty="0"/>
              <a:t/>
            </a:r>
            <a:br>
              <a:rPr lang="en-US" sz="800" dirty="0"/>
            </a:br>
            <a:r>
              <a:rPr lang="en-US" sz="800" dirty="0"/>
              <a:t>                if (</a:t>
            </a:r>
            <a:r>
              <a:rPr lang="en-US" sz="800" dirty="0" err="1"/>
              <a:t>slotDate</a:t>
            </a:r>
            <a:r>
              <a:rPr lang="en-US" sz="800" dirty="0"/>
              <a:t> &gt; new Date()) {</a:t>
            </a:r>
          </a:p>
          <a:p>
            <a:r>
              <a:rPr lang="en-US" sz="800" dirty="0"/>
              <a:t>                    </a:t>
            </a:r>
            <a:r>
              <a:rPr lang="en-US" sz="800" dirty="0" err="1"/>
              <a:t>slots.push</a:t>
            </a:r>
            <a:r>
              <a:rPr lang="en-US" sz="800" dirty="0"/>
              <a:t>({ teacher, date, time });</a:t>
            </a:r>
          </a:p>
          <a:p>
            <a:r>
              <a:rPr lang="en-US" sz="800" dirty="0"/>
              <a:t>                }</a:t>
            </a:r>
          </a:p>
          <a:p>
            <a:r>
              <a:rPr lang="en-US" sz="800" dirty="0"/>
              <a:t>            });</a:t>
            </a:r>
          </a:p>
          <a:p>
            <a:r>
              <a:rPr lang="en-US" sz="800" dirty="0"/>
              <a:t>        });</a:t>
            </a:r>
          </a:p>
          <a:p>
            <a:r>
              <a:rPr lang="en-US" sz="800" dirty="0"/>
              <a:t>    }</a:t>
            </a:r>
          </a:p>
          <a:p>
            <a:r>
              <a:rPr lang="en-US" sz="800" dirty="0"/>
              <a:t>}</a:t>
            </a:r>
          </a:p>
          <a:p>
            <a:r>
              <a:rPr lang="en-US" sz="800" dirty="0"/>
              <a:t/>
            </a:r>
            <a:br>
              <a:rPr lang="en-US" sz="800" dirty="0"/>
            </a:b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6741051" cy="5638800"/>
          </a:xfrm>
          <a:prstGeom prst="roundRect">
            <a:avLst>
              <a:gd name="adj" fmla="val 7567"/>
            </a:avLst>
          </a:prstGeom>
          <a:solidFill>
            <a:srgbClr val="22252B"/>
          </a:solidFill>
          <a:ln/>
        </p:spPr>
      </p:sp>
      <p:sp>
        <p:nvSpPr>
          <p:cNvPr id="3" name="Text 1"/>
          <p:cNvSpPr/>
          <p:nvPr/>
        </p:nvSpPr>
        <p:spPr>
          <a:xfrm>
            <a:off x="1219170" y="1234250"/>
            <a:ext cx="5521881" cy="633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800" kern="100" spc="-96" dirty="0">
                <a:solidFill>
                  <a:srgbClr val="FFFFFF"/>
                </a:solidFill>
                <a:latin typeface="Orelega One" pitchFamily="34" charset="0"/>
                <a:ea typeface="Orelega One" pitchFamily="34" charset="-122"/>
                <a:cs typeface="Orelega One" pitchFamily="34" charset="-120"/>
              </a:rPr>
              <a:t>HTML и CSS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219170" y="2081709"/>
            <a:ext cx="5521881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HTML используется для создания структуры страницы. Например, с его помощью можно показать название консультации, время и кнопку записи.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170" y="3568005"/>
            <a:ext cx="571486" cy="571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19170" y="4272855"/>
            <a:ext cx="2608495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CSS отвечает за оформление страницы: цвета, размеры, отступы и внешний вид кнопок.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2457" y="3568005"/>
            <a:ext cx="571486" cy="571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32457" y="4272855"/>
            <a:ext cx="2608594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Благодаря этому интерфейс становится более понятным и удобным.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8010920" y="609600"/>
            <a:ext cx="3571190" cy="5638800"/>
          </a:xfrm>
          <a:prstGeom prst="roundRect">
            <a:avLst>
              <a:gd name="adj" fmla="val 11949"/>
            </a:avLst>
          </a:prstGeom>
          <a:solidFill>
            <a:srgbClr val="F4A259"/>
          </a:solidFill>
          <a:ln/>
        </p:spPr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3583" y="6414939"/>
            <a:ext cx="1838417" cy="4430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70157" y="491296"/>
            <a:ext cx="3052716" cy="589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/>
            </a:r>
            <a:br>
              <a:rPr lang="en-US" sz="700" dirty="0"/>
            </a:br>
            <a:r>
              <a:rPr lang="en-US" sz="700" dirty="0"/>
              <a:t>* {</a:t>
            </a:r>
          </a:p>
          <a:p>
            <a:r>
              <a:rPr lang="en-US" sz="700" dirty="0"/>
              <a:t>    box-sizing: border-box;</a:t>
            </a:r>
          </a:p>
          <a:p>
            <a:r>
              <a:rPr lang="en-US" sz="700" dirty="0"/>
              <a:t>}</a:t>
            </a:r>
          </a:p>
          <a:p>
            <a:r>
              <a:rPr lang="en-US" sz="700" dirty="0"/>
              <a:t/>
            </a:r>
            <a:br>
              <a:rPr lang="en-US" sz="700" dirty="0"/>
            </a:br>
            <a:r>
              <a:rPr lang="en-US" sz="700" dirty="0"/>
              <a:t>body {</a:t>
            </a:r>
          </a:p>
          <a:p>
            <a:r>
              <a:rPr lang="en-US" sz="700" dirty="0"/>
              <a:t>    margin: 0;</a:t>
            </a:r>
          </a:p>
          <a:p>
            <a:r>
              <a:rPr lang="en-US" sz="700" dirty="0"/>
              <a:t>    font-family: Arial, sans-serif;</a:t>
            </a:r>
          </a:p>
          <a:p>
            <a:r>
              <a:rPr lang="en-US" sz="700" dirty="0"/>
              <a:t>    background: #f1f5f9;</a:t>
            </a:r>
          </a:p>
          <a:p>
            <a:r>
              <a:rPr lang="en-US" sz="700" dirty="0"/>
              <a:t>    color: #1e293b;</a:t>
            </a:r>
          </a:p>
          <a:p>
            <a:r>
              <a:rPr lang="en-US" sz="700" dirty="0"/>
              <a:t>}</a:t>
            </a:r>
          </a:p>
          <a:p>
            <a:r>
              <a:rPr lang="en-US" sz="700" dirty="0"/>
              <a:t/>
            </a:r>
            <a:br>
              <a:rPr lang="en-US" sz="700" dirty="0"/>
            </a:br>
            <a:r>
              <a:rPr lang="en-US" sz="700" dirty="0"/>
              <a:t>header {</a:t>
            </a:r>
          </a:p>
          <a:p>
            <a:r>
              <a:rPr lang="en-US" sz="700" dirty="0"/>
              <a:t>    background: #2563eb;</a:t>
            </a:r>
          </a:p>
          <a:p>
            <a:r>
              <a:rPr lang="en-US" sz="700" dirty="0"/>
              <a:t>    color: white;</a:t>
            </a:r>
          </a:p>
          <a:p>
            <a:r>
              <a:rPr lang="en-US" sz="700" dirty="0"/>
              <a:t>    text-align: center;</a:t>
            </a:r>
          </a:p>
          <a:p>
            <a:r>
              <a:rPr lang="en-US" sz="700" dirty="0"/>
              <a:t>    padding: 28px 15px;</a:t>
            </a:r>
          </a:p>
          <a:p>
            <a:r>
              <a:rPr lang="en-US" sz="700" dirty="0"/>
              <a:t>}</a:t>
            </a:r>
          </a:p>
          <a:p>
            <a:r>
              <a:rPr lang="en-US" sz="700" dirty="0"/>
              <a:t/>
            </a:r>
            <a:br>
              <a:rPr lang="en-US" sz="700" dirty="0"/>
            </a:br>
            <a:r>
              <a:rPr lang="en-US" sz="700" dirty="0"/>
              <a:t>header h1 {</a:t>
            </a:r>
          </a:p>
          <a:p>
            <a:r>
              <a:rPr lang="en-US" sz="700" dirty="0"/>
              <a:t>    margin: 0 0 10px;</a:t>
            </a:r>
          </a:p>
          <a:p>
            <a:r>
              <a:rPr lang="en-US" sz="700" dirty="0"/>
              <a:t>}</a:t>
            </a:r>
          </a:p>
          <a:p>
            <a:r>
              <a:rPr lang="en-US" sz="700" dirty="0"/>
              <a:t/>
            </a:r>
            <a:br>
              <a:rPr lang="en-US" sz="700" dirty="0"/>
            </a:br>
            <a:r>
              <a:rPr lang="en-US" sz="700" dirty="0"/>
              <a:t>.container {</a:t>
            </a:r>
          </a:p>
          <a:p>
            <a:r>
              <a:rPr lang="en-US" sz="700" dirty="0"/>
              <a:t>    max-width: 1000px;</a:t>
            </a:r>
          </a:p>
          <a:p>
            <a:r>
              <a:rPr lang="en-US" sz="700" dirty="0"/>
              <a:t>    margin: 25px auto;</a:t>
            </a:r>
          </a:p>
          <a:p>
            <a:r>
              <a:rPr lang="en-US" sz="700" dirty="0"/>
              <a:t>    padding: 0 15px;</a:t>
            </a:r>
          </a:p>
          <a:p>
            <a:r>
              <a:rPr lang="en-US" sz="700" dirty="0"/>
              <a:t>}</a:t>
            </a:r>
          </a:p>
          <a:p>
            <a:r>
              <a:rPr lang="en-US" sz="700" dirty="0"/>
              <a:t/>
            </a:r>
            <a:br>
              <a:rPr lang="en-US" sz="700" dirty="0"/>
            </a:br>
            <a:r>
              <a:rPr lang="en-US" sz="700" dirty="0"/>
              <a:t>.card {</a:t>
            </a:r>
          </a:p>
          <a:p>
            <a:r>
              <a:rPr lang="en-US" sz="700" dirty="0"/>
              <a:t>    background: white;</a:t>
            </a:r>
          </a:p>
          <a:p>
            <a:r>
              <a:rPr lang="en-US" sz="700" dirty="0"/>
              <a:t>    padding: 22px;</a:t>
            </a:r>
          </a:p>
          <a:p>
            <a:r>
              <a:rPr lang="en-US" sz="700" dirty="0"/>
              <a:t>    margin-bottom: 20px;</a:t>
            </a:r>
          </a:p>
          <a:p>
            <a:r>
              <a:rPr lang="en-US" sz="700" dirty="0"/>
              <a:t>    border-radius: 12px;</a:t>
            </a:r>
          </a:p>
          <a:p>
            <a:r>
              <a:rPr lang="en-US" sz="700" dirty="0"/>
              <a:t>    box-shadow: 0 3px 12px #0000000d;</a:t>
            </a:r>
          </a:p>
          <a:p>
            <a:r>
              <a:rPr lang="en-US" sz="700" dirty="0"/>
              <a:t>}</a:t>
            </a:r>
          </a:p>
          <a:p>
            <a:r>
              <a:rPr lang="en-US" sz="700" dirty="0"/>
              <a:t/>
            </a:r>
            <a:br>
              <a:rPr lang="en-US" sz="700" dirty="0"/>
            </a:br>
            <a:r>
              <a:rPr lang="en-US" sz="700" dirty="0"/>
              <a:t>h2 {</a:t>
            </a:r>
          </a:p>
          <a:p>
            <a:r>
              <a:rPr lang="en-US" sz="700" dirty="0"/>
              <a:t>    color: #1d4ed8;</a:t>
            </a:r>
          </a:p>
          <a:p>
            <a:r>
              <a:rPr lang="en-US" sz="700" dirty="0"/>
              <a:t>    margin-top: 0;</a:t>
            </a:r>
          </a:p>
          <a:p>
            <a:r>
              <a:rPr lang="en-US" sz="700" dirty="0"/>
              <a:t>}</a:t>
            </a:r>
          </a:p>
          <a:p>
            <a:r>
              <a:rPr lang="en-US" sz="700" dirty="0"/>
              <a:t/>
            </a:r>
            <a:br>
              <a:rPr lang="en-US" sz="700" dirty="0"/>
            </a:br>
            <a:r>
              <a:rPr lang="en-US" sz="700" dirty="0"/>
              <a:t>form {</a:t>
            </a:r>
          </a:p>
          <a:p>
            <a:r>
              <a:rPr lang="en-US" sz="700" dirty="0"/>
              <a:t>    display: grid;</a:t>
            </a:r>
          </a:p>
          <a:p>
            <a:r>
              <a:rPr lang="en-US" sz="700" dirty="0"/>
              <a:t>    grid-template-columns: repeat(2, 1fr);</a:t>
            </a:r>
          </a:p>
          <a:p>
            <a:r>
              <a:rPr lang="en-US" sz="700" dirty="0"/>
              <a:t>    gap: 14px;</a:t>
            </a:r>
          </a:p>
          <a:p>
            <a:r>
              <a:rPr lang="en-US" sz="700" dirty="0"/>
              <a:t>}</a:t>
            </a:r>
          </a:p>
          <a:p>
            <a:r>
              <a:rPr lang="en-US" sz="700" dirty="0"/>
              <a:t/>
            </a:r>
            <a:br>
              <a:rPr lang="en-US" sz="700" dirty="0"/>
            </a:br>
            <a:r>
              <a:rPr lang="en-US" sz="700" dirty="0"/>
              <a:t>label {</a:t>
            </a:r>
          </a:p>
          <a:p>
            <a:r>
              <a:rPr lang="en-US" sz="700" dirty="0"/>
              <a:t>    display: block;</a:t>
            </a:r>
          </a:p>
          <a:p>
            <a:r>
              <a:rPr lang="en-US" sz="700" dirty="0"/>
              <a:t>    font-weight: bold;</a:t>
            </a:r>
          </a:p>
          <a:p>
            <a:r>
              <a:rPr lang="en-US" sz="700" dirty="0"/>
              <a:t>    margin-bottom: 6px;</a:t>
            </a:r>
          </a:p>
          <a:p>
            <a:r>
              <a:rPr lang="en-US" sz="700" dirty="0"/>
              <a:t>}</a:t>
            </a:r>
          </a:p>
          <a:p>
            <a:endParaRPr lang="en-US" sz="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6741051" cy="5638800"/>
          </a:xfrm>
          <a:prstGeom prst="roundRect">
            <a:avLst>
              <a:gd name="adj" fmla="val 7567"/>
            </a:avLst>
          </a:prstGeom>
          <a:solidFill>
            <a:srgbClr val="FFF6E3"/>
          </a:solidFill>
          <a:ln/>
        </p:spPr>
      </p:sp>
      <p:sp>
        <p:nvSpPr>
          <p:cNvPr id="3" name="Text 1"/>
          <p:cNvSpPr/>
          <p:nvPr/>
        </p:nvSpPr>
        <p:spPr>
          <a:xfrm>
            <a:off x="1219170" y="1234250"/>
            <a:ext cx="5521881" cy="633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800" kern="100" spc="-96" dirty="0">
                <a:solidFill>
                  <a:srgbClr val="000000"/>
                </a:solidFill>
                <a:latin typeface="Orelega One" pitchFamily="34" charset="0"/>
                <a:ea typeface="Orelega One" pitchFamily="34" charset="-122"/>
                <a:cs typeface="Orelega One" pitchFamily="34" charset="-120"/>
              </a:rPr>
              <a:t>JavaScript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219170" y="2081709"/>
            <a:ext cx="5521881" cy="2239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ada" pitchFamily="34" charset="0"/>
                <a:ea typeface="Scada" pitchFamily="34" charset="-122"/>
                <a:cs typeface="Scada" pitchFamily="34" charset="-120"/>
              </a:rPr>
              <a:t>JavaScript используется для проверки данных в форме. Например, система проверяет, заполнены ли имя и тема консультации, а также правильно ли указано время. Такая проверка помогает обнаруживать ошибки ещё до отправки заявки. Однако окончательная проверка занятости должна выполняться на сервере.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10920" y="609600"/>
            <a:ext cx="3571190" cy="5638800"/>
          </a:xfrm>
          <a:prstGeom prst="roundRect">
            <a:avLst>
              <a:gd name="adj" fmla="val 11949"/>
            </a:avLst>
          </a:prstGeom>
          <a:solidFill>
            <a:srgbClr val="F4A25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920" y="609600"/>
            <a:ext cx="3571190" cy="56388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3083" y="6448410"/>
            <a:ext cx="2028917" cy="4095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480</Words>
  <Application>Microsoft Office PowerPoint</Application>
  <PresentationFormat>Широкоэкранный</PresentationFormat>
  <Paragraphs>212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Calibri</vt:lpstr>
      <vt:lpstr>Scada</vt:lpstr>
      <vt:lpstr>Arial</vt:lpstr>
      <vt:lpstr>Orelega One</vt:lpstr>
      <vt:lpstr>Scada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Student</dc:creator>
  <cp:lastModifiedBy>Student</cp:lastModifiedBy>
  <cp:revision>3</cp:revision>
  <dcterms:created xsi:type="dcterms:W3CDTF">2026-10-15T10:23:32Z</dcterms:created>
  <dcterms:modified xsi:type="dcterms:W3CDTF">2026-10-15T11:46:45Z</dcterms:modified>
</cp:coreProperties>
</file>