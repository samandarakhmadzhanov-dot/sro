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embeddedFontLst>
    <p:embeddedFont>
      <p:font typeface="Calibri" pitchFamily="34" charset="0"/>
      <p:regular r:id="rId13"/>
      <p:bold r:id="rId14"/>
      <p:italic r:id="rId15"/>
      <p:boldItalic r:id="rId16"/>
    </p:embeddedFont>
    <p:embeddedFont>
      <p:font typeface="Consolas" pitchFamily="49" charset="0"/>
      <p:regular r:id="rId17"/>
      <p:bold r:id="rId18"/>
      <p:italic r:id="rId19"/>
      <p:boldItalic r:id="rId20"/>
    </p:embeddedFont>
    <p:embeddedFont>
      <p:font typeface="Scada" charset="-52"/>
      <p:regular r:id="rId21"/>
    </p:embeddedFont>
    <p:embeddedFont>
      <p:font typeface="Orelega One" charset="0"/>
      <p:regular r:id="rId22"/>
    </p:embeddedFont>
    <p:embeddedFont>
      <p:font typeface="Scada Bold" charset="-52"/>
      <p:regular r:id="rId23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95" d="100"/>
          <a:sy n="95" d="100"/>
        </p:scale>
        <p:origin x="-178" y="24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096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096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45698CF-DF02-408F-82D5-5FC9250CD3FE}" type="datetimeFigureOut">
              <a:rPr lang="ru-RU" smtClean="0"/>
              <a:t>18.10.2026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-635000" y="914400"/>
            <a:ext cx="8128000" cy="4572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096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096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3FF73BC-ABA8-415F-B77B-D187B0A4CE8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394877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Титульный слайд защиты проекта СРО по дисциплине «Технология программирования».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Обзор ключевой функциональности и задач, решаемых разработанным веб-сервисом.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Назначение тегов HTML разметки, обеспечивающих каркас клиентской формы и расписания.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Роль каскадных таблиц стилей: эстетика, цветовая дифференциация статусов и медиазапросы.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Базовые структуры данных JavaScript: хранение расписания в объектах слотов и пул активных заявок.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Алгоритм динамического рендеринга слотов и выявления временных пересечений методом some.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Комплекс валидационных правил на стороне клиента перед созданием заявки на консультацию.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Фильтрация массива заявок по подстроке имени и механизм отмены через удаление объекта из состояния.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Таблица тестовых сценариев верификации ключевых сценариев взаимодействия и обработки граничных случаев.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Заключительный слайд: подведение итогов разработки веб-сервиса и освоенные компетенции.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B6E4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bg>
      <p:bgPr>
        <a:solidFill>
          <a:srgbClr val="2225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3">
    <p:bg>
      <p:bgPr>
        <a:solidFill>
          <a:srgbClr val="FFF6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Relationship Id="rId9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53496"/>
            <a:ext cx="6502237" cy="27628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82000"/>
              </a:lnSpc>
              <a:buNone/>
            </a:pPr>
            <a:r>
              <a:rPr lang="en-US" sz="7400" kern="100" spc="-148" dirty="0">
                <a:solidFill>
                  <a:srgbClr val="FFF6E3"/>
                </a:solidFill>
                <a:latin typeface="Orelega One" pitchFamily="34" charset="0"/>
                <a:ea typeface="Orelega One" pitchFamily="34" charset="-122"/>
                <a:cs typeface="Orelega One" pitchFamily="34" charset="-120"/>
              </a:rPr>
              <a:t>Сервис записи на консультацию</a:t>
            </a:r>
            <a:endParaRPr lang="en-US" sz="7400" dirty="0"/>
          </a:p>
        </p:txBody>
      </p:sp>
      <p:sp>
        <p:nvSpPr>
          <p:cNvPr id="3" name="Shape 1"/>
          <p:cNvSpPr/>
          <p:nvPr/>
        </p:nvSpPr>
        <p:spPr>
          <a:xfrm>
            <a:off x="609585" y="3815358"/>
            <a:ext cx="6068662" cy="802481"/>
          </a:xfrm>
          <a:prstGeom prst="roundRect">
            <a:avLst>
              <a:gd name="adj" fmla="val 49999"/>
            </a:avLst>
          </a:prstGeom>
          <a:solidFill>
            <a:srgbClr val="FFF6E3"/>
          </a:solidFill>
          <a:ln/>
        </p:spPr>
      </p:sp>
      <p:sp>
        <p:nvSpPr>
          <p:cNvPr id="4" name="Text 2"/>
          <p:cNvSpPr/>
          <p:nvPr/>
        </p:nvSpPr>
        <p:spPr>
          <a:xfrm>
            <a:off x="914377" y="3949978"/>
            <a:ext cx="5459077" cy="5484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Scada Bold" pitchFamily="34" charset="0"/>
                <a:ea typeface="Scada Bold" pitchFamily="34" charset="-122"/>
                <a:cs typeface="Scada Bold" pitchFamily="34" charset="-120"/>
              </a:rPr>
              <a:t>СРО по дисциплине «Технология программирования»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09585" y="4770239"/>
            <a:ext cx="6502237" cy="1478161"/>
          </a:xfrm>
          <a:prstGeom prst="roundRect">
            <a:avLst>
              <a:gd name="adj" fmla="val 49999"/>
            </a:avLst>
          </a:prstGeom>
          <a:solidFill>
            <a:srgbClr val="F4A259"/>
          </a:solidFill>
          <a:ln/>
        </p:spPr>
      </p:sp>
      <p:sp>
        <p:nvSpPr>
          <p:cNvPr id="6" name="Text 4"/>
          <p:cNvSpPr/>
          <p:nvPr/>
        </p:nvSpPr>
        <p:spPr>
          <a:xfrm>
            <a:off x="914377" y="4922639"/>
            <a:ext cx="6197445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Scada" pitchFamily="34" charset="0"/>
                <a:ea typeface="Scada" pitchFamily="34" charset="-122"/>
                <a:cs typeface="Scada" pitchFamily="34" charset="-120"/>
              </a:rPr>
              <a:t>Выполнил(а): Ахмаджанов Самандар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14377" y="5322689"/>
            <a:ext cx="5892653" cy="7733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7000"/>
              </a:lnSpc>
              <a:spcAft>
                <a:spcPts val="1000"/>
              </a:spcAft>
              <a:buNone/>
            </a:pPr>
            <a:r>
              <a:rPr lang="en-US" sz="1800" dirty="0">
                <a:solidFill>
                  <a:srgbClr val="000000"/>
                </a:solidFill>
                <a:latin typeface="Scada" pitchFamily="34" charset="0"/>
                <a:ea typeface="Scada" pitchFamily="34" charset="-122"/>
                <a:cs typeface="Scada" pitchFamily="34" charset="-120"/>
              </a:rPr>
              <a:t>Группа: ИС 25-21</a:t>
            </a:r>
            <a:endParaRPr lang="en-US" sz="1800" dirty="0"/>
          </a:p>
          <a:p>
            <a:pPr marL="0" indent="0" algn="l">
              <a:lnSpc>
                <a:spcPct val="117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Scada" pitchFamily="34" charset="0"/>
                <a:ea typeface="Scada" pitchFamily="34" charset="-122"/>
                <a:cs typeface="Scada" pitchFamily="34" charset="-120"/>
              </a:rPr>
              <a:t>Проверил(а-): Рашидинов Д.Р</a:t>
            </a:r>
            <a:endParaRPr lang="en-US" sz="18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99202" y="609600"/>
            <a:ext cx="3682908" cy="5638800"/>
          </a:xfrm>
          <a:prstGeom prst="rect">
            <a:avLst/>
          </a:prstGeom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59822" y="6535570"/>
            <a:ext cx="1132178" cy="250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585" y="609600"/>
            <a:ext cx="6934027" cy="5638800"/>
          </a:xfrm>
          <a:prstGeom prst="roundRect">
            <a:avLst>
              <a:gd name="adj" fmla="val 7567"/>
            </a:avLst>
          </a:prstGeom>
          <a:solidFill>
            <a:srgbClr val="FFF6E3"/>
          </a:solidFill>
          <a:ln/>
        </p:spPr>
      </p:sp>
      <p:sp>
        <p:nvSpPr>
          <p:cNvPr id="3" name="Text 1"/>
          <p:cNvSpPr/>
          <p:nvPr/>
        </p:nvSpPr>
        <p:spPr>
          <a:xfrm>
            <a:off x="965176" y="820483"/>
            <a:ext cx="6222844" cy="4490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7000"/>
              </a:lnSpc>
              <a:buNone/>
            </a:pPr>
            <a:r>
              <a:rPr lang="en-US" sz="3400" kern="100" spc="-68" dirty="0">
                <a:solidFill>
                  <a:srgbClr val="22252B"/>
                </a:solidFill>
                <a:latin typeface="Orelega One" pitchFamily="34" charset="0"/>
                <a:ea typeface="Orelega One" pitchFamily="34" charset="-122"/>
                <a:cs typeface="Orelega One" pitchFamily="34" charset="-120"/>
              </a:rPr>
              <a:t>Основная идея проекта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965176" y="1490464"/>
            <a:ext cx="6222844" cy="11663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spcAft>
                <a:spcPts val="1600"/>
              </a:spcAft>
              <a:buNone/>
            </a:pPr>
            <a:r>
              <a:rPr lang="en-US" sz="1800" dirty="0">
                <a:solidFill>
                  <a:srgbClr val="000000"/>
                </a:solidFill>
                <a:latin typeface="Scada" pitchFamily="34" charset="0"/>
                <a:ea typeface="Scada" pitchFamily="34" charset="-122"/>
                <a:cs typeface="Scada" pitchFamily="34" charset="-120"/>
              </a:rPr>
              <a:t>Сервис предназначен для упрощения процесса записи студентов к преподавателям.</a:t>
            </a:r>
            <a:endParaRPr lang="en-US" sz="1800" dirty="0"/>
          </a:p>
          <a:p>
            <a:pPr marL="0" indent="0" algn="l">
              <a:lnSpc>
                <a:spcPct val="117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Scada" pitchFamily="34" charset="0"/>
                <a:ea typeface="Scada" pitchFamily="34" charset="-122"/>
                <a:cs typeface="Scada" pitchFamily="34" charset="-120"/>
              </a:rPr>
              <a:t>Основные возможности: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65176" y="2863155"/>
            <a:ext cx="6222844" cy="22056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65760" indent="-365760" algn="l">
              <a:lnSpc>
                <a:spcPct val="117000"/>
              </a:lnSpc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Scada" pitchFamily="34" charset="0"/>
                <a:ea typeface="Scada" pitchFamily="34" charset="-122"/>
                <a:cs typeface="Scada" pitchFamily="34" charset="-120"/>
              </a:rPr>
              <a:t>Просмотр расписания консультаций.</a:t>
            </a:r>
            <a:endParaRPr lang="en-US" sz="1800" dirty="0"/>
          </a:p>
          <a:p>
            <a:pPr marL="365760" indent="-365760" algn="l">
              <a:lnSpc>
                <a:spcPct val="117000"/>
              </a:lnSpc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Scada" pitchFamily="34" charset="0"/>
                <a:ea typeface="Scada" pitchFamily="34" charset="-122"/>
                <a:cs typeface="Scada" pitchFamily="34" charset="-120"/>
              </a:rPr>
              <a:t>Запись на свободное время.</a:t>
            </a:r>
            <a:endParaRPr lang="en-US" sz="1800" dirty="0"/>
          </a:p>
          <a:p>
            <a:pPr marL="365760" indent="-365760" algn="l">
              <a:lnSpc>
                <a:spcPct val="117000"/>
              </a:lnSpc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Scada" pitchFamily="34" charset="0"/>
                <a:ea typeface="Scada" pitchFamily="34" charset="-122"/>
                <a:cs typeface="Scada" pitchFamily="34" charset="-120"/>
              </a:rPr>
              <a:t>Проверка правильности введённых данных.</a:t>
            </a:r>
            <a:endParaRPr lang="en-US" sz="1800" dirty="0"/>
          </a:p>
          <a:p>
            <a:pPr marL="365760" indent="-365760" algn="l">
              <a:lnSpc>
                <a:spcPct val="117000"/>
              </a:lnSpc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Scada" pitchFamily="34" charset="0"/>
                <a:ea typeface="Scada" pitchFamily="34" charset="-122"/>
                <a:cs typeface="Scada" pitchFamily="34" charset="-120"/>
              </a:rPr>
              <a:t>Поиск заявок по имени студента.</a:t>
            </a:r>
            <a:endParaRPr lang="en-US" sz="1800" dirty="0"/>
          </a:p>
          <a:p>
            <a:pPr marL="365760" indent="-365760" algn="l">
              <a:lnSpc>
                <a:spcPct val="117000"/>
              </a:lnSpc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Scada" pitchFamily="34" charset="0"/>
                <a:ea typeface="Scada" pitchFamily="34" charset="-122"/>
                <a:cs typeface="Scada" pitchFamily="34" charset="-120"/>
              </a:rPr>
              <a:t>Отмена записи.</a:t>
            </a:r>
            <a:endParaRPr lang="en-US" sz="1800" dirty="0"/>
          </a:p>
          <a:p>
            <a:pPr marL="365760" indent="-365760" algn="l">
              <a:lnSpc>
                <a:spcPct val="117000"/>
              </a:lnSpc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Scada" pitchFamily="34" charset="0"/>
                <a:ea typeface="Scada" pitchFamily="34" charset="-122"/>
                <a:cs typeface="Scada" pitchFamily="34" charset="-120"/>
              </a:rPr>
              <a:t>Отображение количества свободных слотов и заявок.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65176" y="5275163"/>
            <a:ext cx="6222844" cy="6399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Scada" pitchFamily="34" charset="0"/>
                <a:ea typeface="Scada" pitchFamily="34" charset="-122"/>
                <a:cs typeface="Scada" pitchFamily="34" charset="-120"/>
              </a:rPr>
              <a:t>Проект помогает организовать консультации и избежать совпадения записей.</a:t>
            </a:r>
            <a:endParaRPr lang="en-US" sz="18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99202" y="609600"/>
            <a:ext cx="3682908" cy="5638800"/>
          </a:xfrm>
          <a:prstGeom prst="rect">
            <a:avLst/>
          </a:prstGeom>
        </p:spPr>
      </p:pic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59822" y="6519529"/>
            <a:ext cx="1132178" cy="2718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7283"/>
            <a:ext cx="10972526" cy="4490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7000"/>
              </a:lnSpc>
              <a:buNone/>
            </a:pPr>
            <a:r>
              <a:rPr lang="en-US" sz="3400" kern="100" spc="-68" dirty="0">
                <a:solidFill>
                  <a:srgbClr val="FFF6E3"/>
                </a:solidFill>
                <a:latin typeface="Orelega One" pitchFamily="34" charset="0"/>
                <a:ea typeface="Orelega One" pitchFamily="34" charset="-122"/>
                <a:cs typeface="Orelega One" pitchFamily="34" charset="-120"/>
              </a:rPr>
              <a:t>HTML — структура сайта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09585" y="1287264"/>
            <a:ext cx="10972526" cy="846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7000"/>
              </a:lnSpc>
              <a:spcAft>
                <a:spcPts val="1600"/>
              </a:spcAft>
              <a:buNone/>
            </a:pPr>
            <a:r>
              <a:rPr lang="en-US" sz="1800" dirty="0">
                <a:solidFill>
                  <a:srgbClr val="FFF6E3"/>
                </a:solidFill>
                <a:latin typeface="Scada" pitchFamily="34" charset="0"/>
                <a:ea typeface="Scada" pitchFamily="34" charset="-122"/>
                <a:cs typeface="Scada" pitchFamily="34" charset="-120"/>
              </a:rPr>
              <a:t>HTML отвечает за содержание и расположение основных элементов страницы.</a:t>
            </a:r>
            <a:endParaRPr lang="en-US" sz="1800" dirty="0"/>
          </a:p>
          <a:p>
            <a:pPr marL="0" indent="0" algn="l">
              <a:lnSpc>
                <a:spcPct val="117000"/>
              </a:lnSpc>
              <a:buNone/>
            </a:pPr>
            <a:r>
              <a:rPr lang="en-US" sz="1800" dirty="0">
                <a:solidFill>
                  <a:srgbClr val="FFF6E3"/>
                </a:solidFill>
                <a:latin typeface="Scada" pitchFamily="34" charset="0"/>
                <a:ea typeface="Scada" pitchFamily="34" charset="-122"/>
                <a:cs typeface="Scada" pitchFamily="34" charset="-120"/>
              </a:rPr>
              <a:t>В коде используются:</a:t>
            </a:r>
            <a:endParaRPr lang="en-US" sz="18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85" y="2339975"/>
            <a:ext cx="457189" cy="457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09585" y="3007995"/>
            <a:ext cx="2666933" cy="274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FFF6E3"/>
                </a:solidFill>
                <a:latin typeface="Scada Bold" pitchFamily="34" charset="0"/>
                <a:ea typeface="Scada Bold" pitchFamily="34" charset="-122"/>
                <a:cs typeface="Scada Bold" pitchFamily="34" charset="-120"/>
              </a:rPr>
              <a:t>`&lt;header&gt;`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609585" y="3439716"/>
            <a:ext cx="2666933" cy="319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800" dirty="0">
                <a:solidFill>
                  <a:srgbClr val="FFF6E3"/>
                </a:solidFill>
                <a:latin typeface="Scada" pitchFamily="34" charset="0"/>
                <a:ea typeface="Scada" pitchFamily="34" charset="-122"/>
                <a:cs typeface="Scada" pitchFamily="34" charset="-120"/>
              </a:rPr>
              <a:t>заголовок сайта.</a:t>
            </a:r>
            <a:endParaRPr lang="en-US" sz="18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8914" y="2339975"/>
            <a:ext cx="457189" cy="4572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3428914" y="3007995"/>
            <a:ext cx="2590735" cy="274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FFF6E3"/>
                </a:solidFill>
                <a:latin typeface="Scada Bold" pitchFamily="34" charset="0"/>
                <a:ea typeface="Scada Bold" pitchFamily="34" charset="-122"/>
                <a:cs typeface="Scada Bold" pitchFamily="34" charset="-120"/>
              </a:rPr>
              <a:t>`&lt;main&gt;`</a:t>
            </a:r>
            <a:endParaRPr lang="en-US" sz="1800" dirty="0"/>
          </a:p>
        </p:txBody>
      </p:sp>
      <p:sp>
        <p:nvSpPr>
          <p:cNvPr id="9" name="Text 5"/>
          <p:cNvSpPr/>
          <p:nvPr/>
        </p:nvSpPr>
        <p:spPr>
          <a:xfrm>
            <a:off x="3428914" y="3439716"/>
            <a:ext cx="2590735" cy="6399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800" dirty="0">
                <a:solidFill>
                  <a:srgbClr val="FFF6E3"/>
                </a:solidFill>
                <a:latin typeface="Scada" pitchFamily="34" charset="0"/>
                <a:ea typeface="Scada" pitchFamily="34" charset="-122"/>
                <a:cs typeface="Scada" pitchFamily="34" charset="-120"/>
              </a:rPr>
              <a:t>основная часть страницы.</a:t>
            </a:r>
            <a:endParaRPr lang="en-US" sz="18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72046" y="2339975"/>
            <a:ext cx="457189" cy="45720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6172046" y="3007995"/>
            <a:ext cx="2590735" cy="274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FFF6E3"/>
                </a:solidFill>
                <a:latin typeface="Scada Bold" pitchFamily="34" charset="0"/>
                <a:ea typeface="Scada Bold" pitchFamily="34" charset="-122"/>
                <a:cs typeface="Scada Bold" pitchFamily="34" charset="-120"/>
              </a:rPr>
              <a:t>`&lt;section&gt;`</a:t>
            </a:r>
            <a:endParaRPr lang="en-US" sz="1800" dirty="0"/>
          </a:p>
        </p:txBody>
      </p:sp>
      <p:sp>
        <p:nvSpPr>
          <p:cNvPr id="12" name="Text 7"/>
          <p:cNvSpPr/>
          <p:nvPr/>
        </p:nvSpPr>
        <p:spPr>
          <a:xfrm>
            <a:off x="6172046" y="3439716"/>
            <a:ext cx="2590735" cy="319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800" dirty="0">
                <a:solidFill>
                  <a:srgbClr val="FFF6E3"/>
                </a:solidFill>
                <a:latin typeface="Scada" pitchFamily="34" charset="0"/>
                <a:ea typeface="Scada" pitchFamily="34" charset="-122"/>
                <a:cs typeface="Scada" pitchFamily="34" charset="-120"/>
              </a:rPr>
              <a:t>отдельные блоки сайта.</a:t>
            </a:r>
            <a:endParaRPr lang="en-US" sz="180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15177" y="2339975"/>
            <a:ext cx="457189" cy="4572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8915177" y="3007995"/>
            <a:ext cx="2666933" cy="274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FFF6E3"/>
                </a:solidFill>
                <a:latin typeface="Scada Bold" pitchFamily="34" charset="0"/>
                <a:ea typeface="Scada Bold" pitchFamily="34" charset="-122"/>
                <a:cs typeface="Scada Bold" pitchFamily="34" charset="-120"/>
              </a:rPr>
              <a:t>`&lt;form&gt;`</a:t>
            </a:r>
            <a:endParaRPr lang="en-US" sz="1800" dirty="0"/>
          </a:p>
        </p:txBody>
      </p:sp>
      <p:sp>
        <p:nvSpPr>
          <p:cNvPr id="15" name="Text 9"/>
          <p:cNvSpPr/>
          <p:nvPr/>
        </p:nvSpPr>
        <p:spPr>
          <a:xfrm>
            <a:off x="8915177" y="3439716"/>
            <a:ext cx="2666933" cy="319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800" dirty="0">
                <a:solidFill>
                  <a:srgbClr val="FFF6E3"/>
                </a:solidFill>
                <a:latin typeface="Scada" pitchFamily="34" charset="0"/>
                <a:ea typeface="Scada" pitchFamily="34" charset="-122"/>
                <a:cs typeface="Scada" pitchFamily="34" charset="-120"/>
              </a:rPr>
              <a:t>форма записи студента.</a:t>
            </a:r>
            <a:endParaRPr lang="en-US" sz="1800" dirty="0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9585" y="4232077"/>
            <a:ext cx="457189" cy="457200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609585" y="4900097"/>
            <a:ext cx="2666933" cy="274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FFF6E3"/>
                </a:solidFill>
                <a:latin typeface="Scada Bold" pitchFamily="34" charset="0"/>
                <a:ea typeface="Scada Bold" pitchFamily="34" charset="-122"/>
                <a:cs typeface="Scada Bold" pitchFamily="34" charset="-120"/>
              </a:rPr>
              <a:t>`&lt;input&gt;`</a:t>
            </a:r>
            <a:endParaRPr lang="en-US" sz="1800" dirty="0"/>
          </a:p>
        </p:txBody>
      </p:sp>
      <p:sp>
        <p:nvSpPr>
          <p:cNvPr id="18" name="Text 11"/>
          <p:cNvSpPr/>
          <p:nvPr/>
        </p:nvSpPr>
        <p:spPr>
          <a:xfrm>
            <a:off x="609585" y="5331817"/>
            <a:ext cx="2666933" cy="319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800" dirty="0">
                <a:solidFill>
                  <a:srgbClr val="FFF6E3"/>
                </a:solidFill>
                <a:latin typeface="Scada" pitchFamily="34" charset="0"/>
                <a:ea typeface="Scada" pitchFamily="34" charset="-122"/>
                <a:cs typeface="Scada" pitchFamily="34" charset="-120"/>
              </a:rPr>
              <a:t>поля для ввода данных.</a:t>
            </a:r>
            <a:endParaRPr lang="en-US" sz="1800" dirty="0"/>
          </a:p>
        </p:txBody>
      </p:sp>
      <p:pic>
        <p:nvPicPr>
          <p:cNvPr id="19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428914" y="4232077"/>
            <a:ext cx="457189" cy="4572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3428914" y="4900097"/>
            <a:ext cx="2590735" cy="274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FFF6E3"/>
                </a:solidFill>
                <a:latin typeface="Scada Bold" pitchFamily="34" charset="0"/>
                <a:ea typeface="Scada Bold" pitchFamily="34" charset="-122"/>
                <a:cs typeface="Scada Bold" pitchFamily="34" charset="-120"/>
              </a:rPr>
              <a:t>`&lt;select&gt;`</a:t>
            </a:r>
            <a:endParaRPr lang="en-US" sz="1800" dirty="0"/>
          </a:p>
        </p:txBody>
      </p:sp>
      <p:sp>
        <p:nvSpPr>
          <p:cNvPr id="21" name="Text 13"/>
          <p:cNvSpPr/>
          <p:nvPr/>
        </p:nvSpPr>
        <p:spPr>
          <a:xfrm>
            <a:off x="3428914" y="5331817"/>
            <a:ext cx="2590735" cy="319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800" dirty="0">
                <a:solidFill>
                  <a:srgbClr val="FFF6E3"/>
                </a:solidFill>
                <a:latin typeface="Scada" pitchFamily="34" charset="0"/>
                <a:ea typeface="Scada" pitchFamily="34" charset="-122"/>
                <a:cs typeface="Scada" pitchFamily="34" charset="-120"/>
              </a:rPr>
              <a:t>выбор преподавателя.</a:t>
            </a:r>
            <a:endParaRPr lang="en-US" sz="1800" dirty="0"/>
          </a:p>
        </p:txBody>
      </p:sp>
      <p:pic>
        <p:nvPicPr>
          <p:cNvPr id="22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172046" y="4232077"/>
            <a:ext cx="457189" cy="457200"/>
          </a:xfrm>
          <a:prstGeom prst="rect">
            <a:avLst/>
          </a:prstGeom>
        </p:spPr>
      </p:pic>
      <p:sp>
        <p:nvSpPr>
          <p:cNvPr id="23" name="Text 14"/>
          <p:cNvSpPr/>
          <p:nvPr/>
        </p:nvSpPr>
        <p:spPr>
          <a:xfrm>
            <a:off x="6172046" y="4900097"/>
            <a:ext cx="2590735" cy="274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FFF6E3"/>
                </a:solidFill>
                <a:latin typeface="Scada Bold" pitchFamily="34" charset="0"/>
                <a:ea typeface="Scada Bold" pitchFamily="34" charset="-122"/>
                <a:cs typeface="Scada Bold" pitchFamily="34" charset="-120"/>
              </a:rPr>
              <a:t>`&lt;button&gt;`</a:t>
            </a:r>
            <a:endParaRPr lang="en-US" sz="1800" dirty="0"/>
          </a:p>
        </p:txBody>
      </p:sp>
      <p:sp>
        <p:nvSpPr>
          <p:cNvPr id="24" name="Text 15"/>
          <p:cNvSpPr/>
          <p:nvPr/>
        </p:nvSpPr>
        <p:spPr>
          <a:xfrm>
            <a:off x="6172046" y="5331817"/>
            <a:ext cx="2590735" cy="319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800" dirty="0">
                <a:solidFill>
                  <a:srgbClr val="FFF6E3"/>
                </a:solidFill>
                <a:latin typeface="Scada" pitchFamily="34" charset="0"/>
                <a:ea typeface="Scada" pitchFamily="34" charset="-122"/>
                <a:cs typeface="Scada" pitchFamily="34" charset="-120"/>
              </a:rPr>
              <a:t>кнопки действий.</a:t>
            </a:r>
            <a:endParaRPr lang="en-US" sz="1800" dirty="0"/>
          </a:p>
        </p:txBody>
      </p:sp>
      <p:pic>
        <p:nvPicPr>
          <p:cNvPr id="25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915177" y="4232077"/>
            <a:ext cx="457189" cy="457200"/>
          </a:xfrm>
          <a:prstGeom prst="rect">
            <a:avLst/>
          </a:prstGeom>
        </p:spPr>
      </p:pic>
      <p:sp>
        <p:nvSpPr>
          <p:cNvPr id="26" name="Text 16"/>
          <p:cNvSpPr/>
          <p:nvPr/>
        </p:nvSpPr>
        <p:spPr>
          <a:xfrm>
            <a:off x="8915177" y="4900097"/>
            <a:ext cx="2666933" cy="274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FFF6E3"/>
                </a:solidFill>
                <a:latin typeface="Scada Bold" pitchFamily="34" charset="0"/>
                <a:ea typeface="Scada Bold" pitchFamily="34" charset="-122"/>
                <a:cs typeface="Scada Bold" pitchFamily="34" charset="-120"/>
              </a:rPr>
              <a:t>`&lt;footer&gt;`</a:t>
            </a:r>
            <a:endParaRPr lang="en-US" sz="1800" dirty="0"/>
          </a:p>
        </p:txBody>
      </p:sp>
      <p:sp>
        <p:nvSpPr>
          <p:cNvPr id="27" name="Text 17"/>
          <p:cNvSpPr/>
          <p:nvPr/>
        </p:nvSpPr>
        <p:spPr>
          <a:xfrm>
            <a:off x="8915177" y="5331817"/>
            <a:ext cx="2666933" cy="319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800" dirty="0">
                <a:solidFill>
                  <a:srgbClr val="FFF6E3"/>
                </a:solidFill>
                <a:latin typeface="Scada" pitchFamily="34" charset="0"/>
                <a:ea typeface="Scada" pitchFamily="34" charset="-122"/>
                <a:cs typeface="Scada" pitchFamily="34" charset="-120"/>
              </a:rPr>
              <a:t>нижняя часть сайта.</a:t>
            </a:r>
            <a:endParaRPr lang="en-US" sz="1800" dirty="0"/>
          </a:p>
        </p:txBody>
      </p:sp>
      <p:sp>
        <p:nvSpPr>
          <p:cNvPr id="28" name="Text 18"/>
          <p:cNvSpPr/>
          <p:nvPr/>
        </p:nvSpPr>
        <p:spPr>
          <a:xfrm>
            <a:off x="609585" y="5858173"/>
            <a:ext cx="11582110" cy="319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800" dirty="0">
                <a:solidFill>
                  <a:srgbClr val="FFF6E3"/>
                </a:solidFill>
                <a:latin typeface="Scada" pitchFamily="34" charset="0"/>
                <a:ea typeface="Scada" pitchFamily="34" charset="-122"/>
                <a:cs typeface="Scada" pitchFamily="34" charset="-120"/>
              </a:rPr>
              <a:t>Простыми словами: HTML создаёт основу сайта, которую пользователь видит на экране.</a:t>
            </a:r>
            <a:endParaRPr lang="en-US" sz="1800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00557" y="6477000"/>
            <a:ext cx="1235075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7283"/>
            <a:ext cx="2844729" cy="13471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87000"/>
              </a:lnSpc>
              <a:buNone/>
            </a:pPr>
            <a:r>
              <a:rPr lang="en-US" sz="3400" kern="100" spc="-68" dirty="0">
                <a:solidFill>
                  <a:srgbClr val="FFF6E3"/>
                </a:solidFill>
                <a:latin typeface="Orelega One" pitchFamily="34" charset="0"/>
                <a:ea typeface="Orelega One" pitchFamily="34" charset="-122"/>
                <a:cs typeface="Orelega One" pitchFamily="34" charset="-120"/>
              </a:rPr>
              <a:t>CSS — оформление сайта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09585" y="2109192"/>
            <a:ext cx="2844729" cy="9599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800" dirty="0">
                <a:solidFill>
                  <a:srgbClr val="FFF6E3"/>
                </a:solidFill>
                <a:latin typeface="Scada" pitchFamily="34" charset="0"/>
                <a:ea typeface="Scada" pitchFamily="34" charset="-122"/>
                <a:cs typeface="Scada" pitchFamily="34" charset="-120"/>
              </a:rPr>
              <a:t>CSS отвечает за внешний вид и удобство использования сайта.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09585" y="6037282"/>
            <a:ext cx="3454314" cy="2146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00" dirty="0">
                <a:solidFill>
                  <a:srgbClr val="FFF6E3"/>
                </a:solidFill>
                <a:latin typeface="Scada" pitchFamily="34" charset="0"/>
                <a:ea typeface="Scada" pitchFamily="34" charset="-122"/>
                <a:cs typeface="Scada" pitchFamily="34" charset="-120"/>
              </a:rPr>
              <a:t>Стилизация и адаптивность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241694" y="609600"/>
            <a:ext cx="7340416" cy="5638800"/>
          </a:xfrm>
          <a:prstGeom prst="roundRect">
            <a:avLst>
              <a:gd name="adj" fmla="val 7567"/>
            </a:avLst>
          </a:prstGeom>
          <a:solidFill>
            <a:srgbClr val="F4A259"/>
          </a:solidFill>
          <a:ln/>
        </p:spPr>
      </p:sp>
      <p:sp>
        <p:nvSpPr>
          <p:cNvPr id="6" name="Text 4"/>
          <p:cNvSpPr/>
          <p:nvPr/>
        </p:nvSpPr>
        <p:spPr>
          <a:xfrm>
            <a:off x="4597285" y="889000"/>
            <a:ext cx="6984825" cy="319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800" b="1" dirty="0">
                <a:solidFill>
                  <a:srgbClr val="22252B"/>
                </a:solidFill>
                <a:latin typeface="Scada Bold" pitchFamily="34" charset="0"/>
                <a:ea typeface="Scada Bold" pitchFamily="34" charset="-122"/>
                <a:cs typeface="Scada Bold" pitchFamily="34" charset="-120"/>
              </a:rPr>
              <a:t>В нашем проекте CSS используется для: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597285" y="1335980"/>
            <a:ext cx="3238419" cy="751681"/>
          </a:xfrm>
          <a:prstGeom prst="roundRect">
            <a:avLst>
              <a:gd name="adj" fmla="val 49999"/>
            </a:avLst>
          </a:prstGeom>
          <a:solidFill>
            <a:srgbClr val="FFF6E3"/>
          </a:solidFill>
          <a:ln/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3180" y="1462941"/>
            <a:ext cx="457189" cy="4572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486263" y="1462980"/>
            <a:ext cx="2146246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Scada" pitchFamily="34" charset="0"/>
                <a:ea typeface="Scada" pitchFamily="34" charset="-122"/>
                <a:cs typeface="Scada" pitchFamily="34" charset="-120"/>
              </a:rPr>
              <a:t>Синего цвета заголовка и кнопок.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7988100" y="1335980"/>
            <a:ext cx="3238419" cy="751681"/>
          </a:xfrm>
          <a:prstGeom prst="roundRect">
            <a:avLst>
              <a:gd name="adj" fmla="val 49999"/>
            </a:avLst>
          </a:prstGeom>
          <a:solidFill>
            <a:srgbClr val="9FD8C0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03995" y="1462941"/>
            <a:ext cx="457189" cy="4572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8877078" y="1462980"/>
            <a:ext cx="2146246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Scada" pitchFamily="34" charset="0"/>
                <a:ea typeface="Scada" pitchFamily="34" charset="-122"/>
                <a:cs typeface="Scada" pitchFamily="34" charset="-120"/>
              </a:rPr>
              <a:t>Белых блоков с закруглёнными углами.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4597285" y="2239963"/>
            <a:ext cx="3238419" cy="751681"/>
          </a:xfrm>
          <a:prstGeom prst="roundRect">
            <a:avLst>
              <a:gd name="adj" fmla="val 49999"/>
            </a:avLst>
          </a:prstGeom>
          <a:solidFill>
            <a:srgbClr val="9FD8C0"/>
          </a:solidFill>
          <a:ln/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13180" y="2366923"/>
            <a:ext cx="457189" cy="45720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5486263" y="2366963"/>
            <a:ext cx="2146246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Scada" pitchFamily="34" charset="0"/>
                <a:ea typeface="Scada" pitchFamily="34" charset="-122"/>
                <a:cs typeface="Scada" pitchFamily="34" charset="-120"/>
              </a:rPr>
              <a:t>Расположения расписания в виде сетки.</a:t>
            </a:r>
            <a:endParaRPr lang="en-US" sz="1400" dirty="0"/>
          </a:p>
        </p:txBody>
      </p:sp>
      <p:sp>
        <p:nvSpPr>
          <p:cNvPr id="16" name="Shape 11"/>
          <p:cNvSpPr/>
          <p:nvPr/>
        </p:nvSpPr>
        <p:spPr>
          <a:xfrm>
            <a:off x="7988100" y="2239963"/>
            <a:ext cx="3238419" cy="751681"/>
          </a:xfrm>
          <a:prstGeom prst="roundRect">
            <a:avLst>
              <a:gd name="adj" fmla="val 49999"/>
            </a:avLst>
          </a:prstGeom>
          <a:solidFill>
            <a:srgbClr val="FFF6E3"/>
          </a:solidFill>
          <a:ln/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03995" y="2366923"/>
            <a:ext cx="457189" cy="45720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8877078" y="2366963"/>
            <a:ext cx="2146246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Scada" pitchFamily="34" charset="0"/>
                <a:ea typeface="Scada" pitchFamily="34" charset="-122"/>
                <a:cs typeface="Scada" pitchFamily="34" charset="-120"/>
              </a:rPr>
              <a:t>Выделения свободных слотов зелёным цветом.</a:t>
            </a:r>
            <a:endParaRPr lang="en-US" sz="1400" dirty="0"/>
          </a:p>
        </p:txBody>
      </p:sp>
      <p:sp>
        <p:nvSpPr>
          <p:cNvPr id="19" name="Shape 13"/>
          <p:cNvSpPr/>
          <p:nvPr/>
        </p:nvSpPr>
        <p:spPr>
          <a:xfrm>
            <a:off x="4597285" y="3143945"/>
            <a:ext cx="3238419" cy="751681"/>
          </a:xfrm>
          <a:prstGeom prst="roundRect">
            <a:avLst>
              <a:gd name="adj" fmla="val 49999"/>
            </a:avLst>
          </a:prstGeom>
          <a:solidFill>
            <a:srgbClr val="FFF6E3"/>
          </a:solidFill>
          <a:ln/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13180" y="3270905"/>
            <a:ext cx="457189" cy="45720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5486263" y="3270945"/>
            <a:ext cx="2146246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Scada" pitchFamily="34" charset="0"/>
                <a:ea typeface="Scada" pitchFamily="34" charset="-122"/>
                <a:cs typeface="Scada" pitchFamily="34" charset="-120"/>
              </a:rPr>
              <a:t>Выделения занятых слотов красным цветом.</a:t>
            </a:r>
            <a:endParaRPr lang="en-US" sz="1400" dirty="0"/>
          </a:p>
        </p:txBody>
      </p:sp>
      <p:sp>
        <p:nvSpPr>
          <p:cNvPr id="22" name="Shape 15"/>
          <p:cNvSpPr/>
          <p:nvPr/>
        </p:nvSpPr>
        <p:spPr>
          <a:xfrm>
            <a:off x="7988100" y="3143945"/>
            <a:ext cx="3238419" cy="751681"/>
          </a:xfrm>
          <a:prstGeom prst="roundRect">
            <a:avLst>
              <a:gd name="adj" fmla="val 49999"/>
            </a:avLst>
          </a:prstGeom>
          <a:solidFill>
            <a:srgbClr val="9FD8C0"/>
          </a:solidFill>
          <a:ln/>
        </p:spPr>
      </p:sp>
      <p:pic>
        <p:nvPicPr>
          <p:cNvPr id="23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03995" y="3270905"/>
            <a:ext cx="457189" cy="457200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8877078" y="3270945"/>
            <a:ext cx="2146246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Scada" pitchFamily="34" charset="0"/>
                <a:ea typeface="Scada" pitchFamily="34" charset="-122"/>
                <a:cs typeface="Scada" pitchFamily="34" charset="-120"/>
              </a:rPr>
              <a:t>Изменения расположения элементов на телефонах.</a:t>
            </a:r>
            <a:endParaRPr lang="en-US" sz="1400" dirty="0"/>
          </a:p>
        </p:txBody>
      </p:sp>
      <p:sp>
        <p:nvSpPr>
          <p:cNvPr id="25" name="Text 17"/>
          <p:cNvSpPr/>
          <p:nvPr/>
        </p:nvSpPr>
        <p:spPr>
          <a:xfrm>
            <a:off x="4597285" y="4073426"/>
            <a:ext cx="6629234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400" dirty="0">
                <a:solidFill>
                  <a:srgbClr val="22252B"/>
                </a:solidFill>
                <a:latin typeface="Scada" pitchFamily="34" charset="0"/>
                <a:ea typeface="Scada" pitchFamily="34" charset="-122"/>
                <a:cs typeface="Scada" pitchFamily="34" charset="-120"/>
              </a:rPr>
              <a:t>Например, `button:hover` меняет цвет кнопки при наведении курсора, а `@media` помогает адаптировать страницу для небольших экранов.</a:t>
            </a:r>
            <a:endParaRPr lang="en-US" sz="1400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56925" y="6477000"/>
            <a:ext cx="1235075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77796" y="177800"/>
            <a:ext cx="4927477" cy="6502400"/>
          </a:xfrm>
          <a:prstGeom prst="roundRect">
            <a:avLst>
              <a:gd name="adj" fmla="val 8660"/>
            </a:avLst>
          </a:prstGeom>
          <a:solidFill>
            <a:srgbClr val="22252B"/>
          </a:solidFill>
          <a:ln/>
        </p:spPr>
      </p:sp>
      <p:sp>
        <p:nvSpPr>
          <p:cNvPr id="3" name="Text 1"/>
          <p:cNvSpPr/>
          <p:nvPr/>
        </p:nvSpPr>
        <p:spPr>
          <a:xfrm>
            <a:off x="584185" y="541083"/>
            <a:ext cx="4114697" cy="898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87000"/>
              </a:lnSpc>
              <a:buNone/>
            </a:pPr>
            <a:r>
              <a:rPr lang="en-US" sz="3400" kern="100" spc="-68" dirty="0">
                <a:solidFill>
                  <a:srgbClr val="FFFFFF"/>
                </a:solidFill>
                <a:latin typeface="Orelega One" pitchFamily="34" charset="0"/>
                <a:ea typeface="Orelega One" pitchFamily="34" charset="-122"/>
                <a:cs typeface="Orelega One" pitchFamily="34" charset="-120"/>
              </a:rPr>
              <a:t>JavaScript — логика программы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84185" y="1660128"/>
            <a:ext cx="4114697" cy="18062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17000"/>
              </a:lnSpc>
              <a:spcAft>
                <a:spcPts val="1600"/>
              </a:spcAft>
              <a:buNone/>
            </a:pPr>
            <a:r>
              <a:rPr lang="en-US" sz="1800" dirty="0">
                <a:solidFill>
                  <a:srgbClr val="FFFFFF"/>
                </a:solidFill>
                <a:latin typeface="Scada" pitchFamily="34" charset="0"/>
                <a:ea typeface="Scada" pitchFamily="34" charset="-122"/>
                <a:cs typeface="Scada" pitchFamily="34" charset="-120"/>
              </a:rPr>
              <a:t>JavaScript отвечает за работу сайта и выполнение действий пользователя.</a:t>
            </a:r>
            <a:endParaRPr lang="en-US" sz="1800" dirty="0"/>
          </a:p>
          <a:p>
            <a:pPr marL="0" indent="0" algn="l">
              <a:lnSpc>
                <a:spcPct val="117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Scada" pitchFamily="34" charset="0"/>
                <a:ea typeface="Scada" pitchFamily="34" charset="-122"/>
                <a:cs typeface="Scada" pitchFamily="34" charset="-120"/>
              </a:rPr>
              <a:t>В начале программы создаётся массив `slots`, в котором хранится расписание консультаций.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84185" y="5750719"/>
            <a:ext cx="4114697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Scada" pitchFamily="34" charset="0"/>
                <a:ea typeface="Scada" pitchFamily="34" charset="-122"/>
                <a:cs typeface="Scada" pitchFamily="34" charset="-120"/>
              </a:rPr>
              <a:t>Простыми словами: JavaScript делает сайт интерактивным.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60863" y="609600"/>
            <a:ext cx="6121247" cy="5638800"/>
          </a:xfrm>
          <a:prstGeom prst="roundRect">
            <a:avLst>
              <a:gd name="adj" fmla="val 7567"/>
            </a:avLst>
          </a:prstGeom>
          <a:solidFill>
            <a:srgbClr val="FFF6E3"/>
          </a:solidFill>
          <a:ln/>
        </p:spPr>
      </p:sp>
      <p:sp>
        <p:nvSpPr>
          <p:cNvPr id="7" name="Shape 5"/>
          <p:cNvSpPr/>
          <p:nvPr/>
        </p:nvSpPr>
        <p:spPr>
          <a:xfrm>
            <a:off x="5841854" y="866775"/>
            <a:ext cx="5359266" cy="3748683"/>
          </a:xfrm>
          <a:prstGeom prst="roundRect">
            <a:avLst>
              <a:gd name="adj" fmla="val 5488"/>
            </a:avLst>
          </a:prstGeom>
          <a:solidFill>
            <a:srgbClr val="0F4A37"/>
          </a:solidFill>
          <a:ln/>
        </p:spPr>
      </p:sp>
      <p:sp>
        <p:nvSpPr>
          <p:cNvPr id="8" name="Text 6"/>
          <p:cNvSpPr/>
          <p:nvPr/>
        </p:nvSpPr>
        <p:spPr>
          <a:xfrm>
            <a:off x="6116088" y="1095375"/>
            <a:ext cx="4810798" cy="32914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slots = [</a:t>
            </a:r>
            <a:endParaRPr lang="en-US" sz="18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</a:t>
            </a:r>
            <a:endParaRPr lang="en-US" sz="18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id: 1,</a:t>
            </a:r>
            <a:endParaRPr lang="en-US" sz="18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teacher: "Иванов",</a:t>
            </a:r>
            <a:endParaRPr lang="en-US" sz="18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date: "2026-10-20",</a:t>
            </a:r>
            <a:endParaRPr lang="en-US" sz="18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start: "10:00",</a:t>
            </a:r>
            <a:endParaRPr lang="en-US" sz="18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end: "10:30"</a:t>
            </a:r>
            <a:endParaRPr lang="en-US" sz="18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8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];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841854" y="4872633"/>
            <a:ext cx="5359266" cy="751681"/>
          </a:xfrm>
          <a:prstGeom prst="roundRect">
            <a:avLst>
              <a:gd name="adj" fmla="val 49999"/>
            </a:avLst>
          </a:prstGeom>
          <a:solidFill>
            <a:srgbClr val="F4A259"/>
          </a:solidFill>
          <a:ln/>
        </p:spPr>
      </p:sp>
      <p:sp>
        <p:nvSpPr>
          <p:cNvPr id="10" name="Text 8"/>
          <p:cNvSpPr/>
          <p:nvPr/>
        </p:nvSpPr>
        <p:spPr>
          <a:xfrm>
            <a:off x="6095848" y="4999633"/>
            <a:ext cx="4851279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Scada" pitchFamily="34" charset="0"/>
                <a:ea typeface="Scada" pitchFamily="34" charset="-122"/>
                <a:cs typeface="Scada" pitchFamily="34" charset="-120"/>
              </a:rPr>
              <a:t>Здесь указаны номер слота, преподаватель, дата, время начала и окончания.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841854" y="5830689"/>
            <a:ext cx="5359266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400" dirty="0">
                <a:solidFill>
                  <a:srgbClr val="22252B"/>
                </a:solidFill>
                <a:latin typeface="Scada" pitchFamily="34" charset="0"/>
                <a:ea typeface="Scada" pitchFamily="34" charset="-122"/>
                <a:cs typeface="Scada" pitchFamily="34" charset="-120"/>
              </a:rPr>
              <a:t>Переменная `requests` хранит созданные заявки, а `nextId` помогает присваивать им номера.</a:t>
            </a:r>
            <a:endParaRPr lang="en-US" sz="1400" dirty="0"/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26775" y="6477000"/>
            <a:ext cx="1165225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585" y="609600"/>
            <a:ext cx="4698882" cy="5638800"/>
          </a:xfrm>
          <a:prstGeom prst="roundRect">
            <a:avLst>
              <a:gd name="adj" fmla="val 9081"/>
            </a:avLst>
          </a:prstGeom>
          <a:solidFill>
            <a:srgbClr val="F4A259"/>
          </a:solidFill>
          <a:ln/>
        </p:spPr>
      </p:sp>
      <p:sp>
        <p:nvSpPr>
          <p:cNvPr id="3" name="Text 1"/>
          <p:cNvSpPr/>
          <p:nvPr/>
        </p:nvSpPr>
        <p:spPr>
          <a:xfrm>
            <a:off x="965176" y="947483"/>
            <a:ext cx="3987700" cy="898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87000"/>
              </a:lnSpc>
              <a:buNone/>
            </a:pPr>
            <a:r>
              <a:rPr lang="en-US" sz="3400" kern="100" spc="-68" dirty="0">
                <a:solidFill>
                  <a:srgbClr val="22252B"/>
                </a:solidFill>
                <a:latin typeface="Orelega One" pitchFamily="34" charset="0"/>
                <a:ea typeface="Orelega One" pitchFamily="34" charset="-122"/>
                <a:cs typeface="Orelega One" pitchFamily="34" charset="-120"/>
              </a:rPr>
              <a:t>Отображение расписания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965176" y="1990328"/>
            <a:ext cx="3987700" cy="7465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Scada" pitchFamily="34" charset="0"/>
                <a:ea typeface="Scada" pitchFamily="34" charset="-122"/>
                <a:cs typeface="Scada" pitchFamily="34" charset="-120"/>
              </a:rPr>
              <a:t>Функция `renderSchedule()` создаёт карточки консультаций и показывает, свободно или занято выбранное время.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65176" y="2889250"/>
            <a:ext cx="3987700" cy="7465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Scada" pitchFamily="34" charset="0"/>
                <a:ea typeface="Scada" pitchFamily="34" charset="-122"/>
                <a:cs typeface="Scada" pitchFamily="34" charset="-120"/>
              </a:rPr>
              <a:t>Для проверки используется метод `some()`, который определяет, существует ли заявка, пересекающаяся с указанным временем.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65176" y="5420519"/>
            <a:ext cx="3987700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Scada" pitchFamily="34" charset="0"/>
                <a:ea typeface="Scada" pitchFamily="34" charset="-122"/>
                <a:cs typeface="Scada" pitchFamily="34" charset="-120"/>
              </a:rPr>
              <a:t>Функция `updateStats()` обновляет количество слотов, свободного времени и заявок.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664058" y="609600"/>
            <a:ext cx="5918052" cy="5638800"/>
          </a:xfrm>
          <a:prstGeom prst="roundRect">
            <a:avLst>
              <a:gd name="adj" fmla="val 7567"/>
            </a:avLst>
          </a:prstGeom>
          <a:solidFill>
            <a:srgbClr val="FFF6E3"/>
          </a:solidFill>
          <a:ln/>
        </p:spPr>
      </p:sp>
      <p:sp>
        <p:nvSpPr>
          <p:cNvPr id="8" name="Shape 6"/>
          <p:cNvSpPr/>
          <p:nvPr/>
        </p:nvSpPr>
        <p:spPr>
          <a:xfrm>
            <a:off x="5994250" y="1146175"/>
            <a:ext cx="5257668" cy="2651522"/>
          </a:xfrm>
          <a:prstGeom prst="roundRect">
            <a:avLst>
              <a:gd name="adj" fmla="val 7759"/>
            </a:avLst>
          </a:prstGeom>
          <a:solidFill>
            <a:srgbClr val="0F4A37"/>
          </a:solidFill>
          <a:ln/>
        </p:spPr>
      </p:sp>
      <p:sp>
        <p:nvSpPr>
          <p:cNvPr id="9" name="Text 7"/>
          <p:cNvSpPr/>
          <p:nvPr/>
        </p:nvSpPr>
        <p:spPr>
          <a:xfrm>
            <a:off x="6268484" y="1374775"/>
            <a:ext cx="4709201" cy="21943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busy = requests.some(request =&gt;</a:t>
            </a:r>
            <a:endParaRPr lang="en-US" sz="18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request.teacher === slot.teacher &amp;&amp;</a:t>
            </a:r>
            <a:endParaRPr lang="en-US" sz="18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request.date === slot.date &amp;&amp;</a:t>
            </a:r>
            <a:endParaRPr lang="en-US" sz="18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request.start &lt; slot.end &amp;&amp;</a:t>
            </a:r>
            <a:endParaRPr lang="en-US" sz="18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request.end &gt; slot.start</a:t>
            </a:r>
            <a:endParaRPr lang="en-US" sz="18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5994250" y="4232672"/>
            <a:ext cx="2552636" cy="1000522"/>
          </a:xfrm>
          <a:prstGeom prst="roundRect">
            <a:avLst>
              <a:gd name="adj" fmla="val 49999"/>
            </a:avLst>
          </a:prstGeom>
          <a:solidFill>
            <a:srgbClr val="F4A259"/>
          </a:solidFill>
          <a:ln/>
        </p:spPr>
      </p:sp>
      <p:sp>
        <p:nvSpPr>
          <p:cNvPr id="11" name="Text 9"/>
          <p:cNvSpPr/>
          <p:nvPr/>
        </p:nvSpPr>
        <p:spPr>
          <a:xfrm>
            <a:off x="6248244" y="4359672"/>
            <a:ext cx="2044649" cy="7465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Scada" pitchFamily="34" charset="0"/>
                <a:ea typeface="Scada" pitchFamily="34" charset="-122"/>
                <a:cs typeface="Scada" pitchFamily="34" charset="-120"/>
              </a:rPr>
              <a:t>Если время занято, отображается красная надпись «Занято».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699282" y="4232672"/>
            <a:ext cx="2552636" cy="1000522"/>
          </a:xfrm>
          <a:prstGeom prst="roundRect">
            <a:avLst>
              <a:gd name="adj" fmla="val 49999"/>
            </a:avLst>
          </a:prstGeom>
          <a:solidFill>
            <a:srgbClr val="9FD8C0"/>
          </a:solidFill>
          <a:ln/>
        </p:spPr>
      </p:sp>
      <p:sp>
        <p:nvSpPr>
          <p:cNvPr id="13" name="Text 11"/>
          <p:cNvSpPr/>
          <p:nvPr/>
        </p:nvSpPr>
        <p:spPr>
          <a:xfrm>
            <a:off x="8953276" y="4359672"/>
            <a:ext cx="2044649" cy="7465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Scada" pitchFamily="34" charset="0"/>
                <a:ea typeface="Scada" pitchFamily="34" charset="-122"/>
                <a:cs typeface="Scada" pitchFamily="34" charset="-120"/>
              </a:rPr>
              <a:t>Если заявок нет, появляется зелёная надпись «Свободно».</a:t>
            </a:r>
            <a:endParaRPr lang="en-US" sz="1400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18015" y="6477000"/>
            <a:ext cx="1235075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24650"/>
            <a:ext cx="10972526" cy="6339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7000"/>
              </a:lnSpc>
              <a:buNone/>
            </a:pPr>
            <a:r>
              <a:rPr lang="en-US" sz="4800" kern="100" spc="-96" dirty="0">
                <a:solidFill>
                  <a:srgbClr val="FFF6E3"/>
                </a:solidFill>
                <a:latin typeface="Orelega One" pitchFamily="34" charset="0"/>
                <a:ea typeface="Orelega One" pitchFamily="34" charset="-122"/>
                <a:cs typeface="Orelega One" pitchFamily="34" charset="-120"/>
              </a:rPr>
              <a:t>Создание заявки и проверка данных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609585" y="1472109"/>
            <a:ext cx="10972526" cy="846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7000"/>
              </a:lnSpc>
              <a:spcAft>
                <a:spcPts val="1600"/>
              </a:spcAft>
              <a:buNone/>
            </a:pPr>
            <a:r>
              <a:rPr lang="en-US" sz="1800" dirty="0">
                <a:solidFill>
                  <a:srgbClr val="FFF6E3"/>
                </a:solidFill>
                <a:latin typeface="Scada" pitchFamily="34" charset="0"/>
                <a:ea typeface="Scada" pitchFamily="34" charset="-122"/>
                <a:cs typeface="Scada" pitchFamily="34" charset="-120"/>
              </a:rPr>
              <a:t>Когда студент нажимает кнопку «Записаться», программа проверяет введённую информацию.</a:t>
            </a:r>
            <a:endParaRPr lang="en-US" sz="1800" dirty="0"/>
          </a:p>
          <a:p>
            <a:pPr marL="0" indent="0" algn="l">
              <a:lnSpc>
                <a:spcPct val="117000"/>
              </a:lnSpc>
              <a:buNone/>
            </a:pPr>
            <a:r>
              <a:rPr lang="en-US" sz="1800" dirty="0">
                <a:solidFill>
                  <a:srgbClr val="FFF6E3"/>
                </a:solidFill>
                <a:latin typeface="Scada" pitchFamily="34" charset="0"/>
                <a:ea typeface="Scada" pitchFamily="34" charset="-122"/>
                <a:cs typeface="Scada" pitchFamily="34" charset="-120"/>
              </a:rPr>
              <a:t>Основные проверки: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609585" y="2524820"/>
            <a:ext cx="5333867" cy="863600"/>
          </a:xfrm>
          <a:prstGeom prst="roundRect">
            <a:avLst>
              <a:gd name="adj" fmla="val 49999"/>
            </a:avLst>
          </a:prstGeom>
          <a:solidFill>
            <a:srgbClr val="F4A259"/>
          </a:solidFill>
          <a:ln/>
        </p:spPr>
      </p:sp>
      <p:sp>
        <p:nvSpPr>
          <p:cNvPr id="5" name="Text 3"/>
          <p:cNvSpPr/>
          <p:nvPr/>
        </p:nvSpPr>
        <p:spPr>
          <a:xfrm>
            <a:off x="1073322" y="2689920"/>
            <a:ext cx="901281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4200" dirty="0">
                <a:solidFill>
                  <a:srgbClr val="000000"/>
                </a:solidFill>
                <a:latin typeface="Orelega One" pitchFamily="34" charset="0"/>
                <a:ea typeface="Orelega One" pitchFamily="34" charset="-122"/>
                <a:cs typeface="Orelega One" pitchFamily="34" charset="-120"/>
              </a:rPr>
              <a:t>1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1706817" y="2832199"/>
            <a:ext cx="4236634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Scada" pitchFamily="34" charset="0"/>
                <a:ea typeface="Scada" pitchFamily="34" charset="-122"/>
                <a:cs typeface="Scada" pitchFamily="34" charset="-120"/>
              </a:rPr>
              <a:t>Все поля должны быть заполнены.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09585" y="3261420"/>
            <a:ext cx="5333867" cy="736600"/>
          </a:xfrm>
          <a:prstGeom prst="roundRect">
            <a:avLst>
              <a:gd name="adj" fmla="val 49999"/>
            </a:avLst>
          </a:prstGeom>
          <a:solidFill>
            <a:srgbClr val="9FD8C0"/>
          </a:solidFill>
          <a:ln/>
        </p:spPr>
      </p:sp>
      <p:sp>
        <p:nvSpPr>
          <p:cNvPr id="8" name="Text 6"/>
          <p:cNvSpPr/>
          <p:nvPr/>
        </p:nvSpPr>
        <p:spPr>
          <a:xfrm>
            <a:off x="1073322" y="3363020"/>
            <a:ext cx="901281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4200" dirty="0">
                <a:solidFill>
                  <a:srgbClr val="000000"/>
                </a:solidFill>
                <a:latin typeface="Orelega One" pitchFamily="34" charset="0"/>
                <a:ea typeface="Orelega One" pitchFamily="34" charset="-122"/>
                <a:cs typeface="Orelega One" pitchFamily="34" charset="-120"/>
              </a:rPr>
              <a:t>2</a:t>
            </a:r>
            <a:endParaRPr lang="en-US" sz="4200" dirty="0"/>
          </a:p>
        </p:txBody>
      </p:sp>
      <p:sp>
        <p:nvSpPr>
          <p:cNvPr id="9" name="Text 7"/>
          <p:cNvSpPr/>
          <p:nvPr/>
        </p:nvSpPr>
        <p:spPr>
          <a:xfrm>
            <a:off x="1706817" y="3380879"/>
            <a:ext cx="3931841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Scada" pitchFamily="34" charset="0"/>
                <a:ea typeface="Scada" pitchFamily="34" charset="-122"/>
                <a:cs typeface="Scada" pitchFamily="34" charset="-120"/>
              </a:rPr>
              <a:t>Имя и тема не должны превышать 100 символов.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09585" y="3998020"/>
            <a:ext cx="5333867" cy="736600"/>
          </a:xfrm>
          <a:prstGeom prst="roundRect">
            <a:avLst>
              <a:gd name="adj" fmla="val 49999"/>
            </a:avLst>
          </a:prstGeom>
          <a:solidFill>
            <a:srgbClr val="FFF6E3"/>
          </a:solidFill>
          <a:ln/>
        </p:spPr>
      </p:sp>
      <p:sp>
        <p:nvSpPr>
          <p:cNvPr id="11" name="Text 9"/>
          <p:cNvSpPr/>
          <p:nvPr/>
        </p:nvSpPr>
        <p:spPr>
          <a:xfrm>
            <a:off x="1073322" y="4099620"/>
            <a:ext cx="901281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4200" dirty="0">
                <a:solidFill>
                  <a:srgbClr val="000000"/>
                </a:solidFill>
                <a:latin typeface="Orelega One" pitchFamily="34" charset="0"/>
                <a:ea typeface="Orelega One" pitchFamily="34" charset="-122"/>
                <a:cs typeface="Orelega One" pitchFamily="34" charset="-120"/>
              </a:rPr>
              <a:t>3</a:t>
            </a:r>
            <a:endParaRPr lang="en-US" sz="4200" dirty="0"/>
          </a:p>
        </p:txBody>
      </p:sp>
      <p:sp>
        <p:nvSpPr>
          <p:cNvPr id="12" name="Text 10"/>
          <p:cNvSpPr/>
          <p:nvPr/>
        </p:nvSpPr>
        <p:spPr>
          <a:xfrm>
            <a:off x="1706817" y="4117479"/>
            <a:ext cx="3931841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Scada" pitchFamily="34" charset="0"/>
                <a:ea typeface="Scada" pitchFamily="34" charset="-122"/>
                <a:cs typeface="Scada" pitchFamily="34" charset="-120"/>
              </a:rPr>
              <a:t>Дата должна существовать и не быть прошедшей.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248244" y="2524820"/>
            <a:ext cx="5333867" cy="863600"/>
          </a:xfrm>
          <a:prstGeom prst="roundRect">
            <a:avLst>
              <a:gd name="adj" fmla="val 49999"/>
            </a:avLst>
          </a:prstGeom>
          <a:solidFill>
            <a:srgbClr val="F4A259"/>
          </a:solidFill>
          <a:ln/>
        </p:spPr>
      </p:sp>
      <p:sp>
        <p:nvSpPr>
          <p:cNvPr id="14" name="Text 12"/>
          <p:cNvSpPr/>
          <p:nvPr/>
        </p:nvSpPr>
        <p:spPr>
          <a:xfrm>
            <a:off x="6711981" y="2689920"/>
            <a:ext cx="901281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4200" dirty="0">
                <a:solidFill>
                  <a:srgbClr val="000000"/>
                </a:solidFill>
                <a:latin typeface="Orelega One" pitchFamily="34" charset="0"/>
                <a:ea typeface="Orelega One" pitchFamily="34" charset="-122"/>
                <a:cs typeface="Orelega One" pitchFamily="34" charset="-120"/>
              </a:rPr>
              <a:t>4</a:t>
            </a:r>
            <a:endParaRPr lang="en-US" sz="4200" dirty="0"/>
          </a:p>
        </p:txBody>
      </p:sp>
      <p:sp>
        <p:nvSpPr>
          <p:cNvPr id="15" name="Text 13"/>
          <p:cNvSpPr/>
          <p:nvPr/>
        </p:nvSpPr>
        <p:spPr>
          <a:xfrm>
            <a:off x="7345476" y="2707779"/>
            <a:ext cx="3931841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Scada" pitchFamily="34" charset="0"/>
                <a:ea typeface="Scada" pitchFamily="34" charset="-122"/>
                <a:cs typeface="Scada" pitchFamily="34" charset="-120"/>
              </a:rPr>
              <a:t>Время окончания должно быть позже времени начала.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248244" y="3261420"/>
            <a:ext cx="5333867" cy="736600"/>
          </a:xfrm>
          <a:prstGeom prst="roundRect">
            <a:avLst>
              <a:gd name="adj" fmla="val 49999"/>
            </a:avLst>
          </a:prstGeom>
          <a:solidFill>
            <a:srgbClr val="FFF6E3"/>
          </a:solidFill>
          <a:ln/>
        </p:spPr>
      </p:sp>
      <p:sp>
        <p:nvSpPr>
          <p:cNvPr id="17" name="Text 15"/>
          <p:cNvSpPr/>
          <p:nvPr/>
        </p:nvSpPr>
        <p:spPr>
          <a:xfrm>
            <a:off x="6711981" y="3363020"/>
            <a:ext cx="901281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4200" dirty="0">
                <a:solidFill>
                  <a:srgbClr val="000000"/>
                </a:solidFill>
                <a:latin typeface="Orelega One" pitchFamily="34" charset="0"/>
                <a:ea typeface="Orelega One" pitchFamily="34" charset="-122"/>
                <a:cs typeface="Orelega One" pitchFamily="34" charset="-120"/>
              </a:rPr>
              <a:t>5</a:t>
            </a:r>
            <a:endParaRPr lang="en-US" sz="4200" dirty="0"/>
          </a:p>
        </p:txBody>
      </p:sp>
      <p:sp>
        <p:nvSpPr>
          <p:cNvPr id="18" name="Text 16"/>
          <p:cNvSpPr/>
          <p:nvPr/>
        </p:nvSpPr>
        <p:spPr>
          <a:xfrm>
            <a:off x="7345476" y="3380879"/>
            <a:ext cx="3931841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Scada" pitchFamily="34" charset="0"/>
                <a:ea typeface="Scada" pitchFamily="34" charset="-122"/>
                <a:cs typeface="Scada" pitchFamily="34" charset="-120"/>
              </a:rPr>
              <a:t>Запись не должна пересекаться с другой заявкой.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248244" y="3998020"/>
            <a:ext cx="5333867" cy="736600"/>
          </a:xfrm>
          <a:prstGeom prst="roundRect">
            <a:avLst>
              <a:gd name="adj" fmla="val 49999"/>
            </a:avLst>
          </a:prstGeom>
          <a:solidFill>
            <a:srgbClr val="9FD8C0"/>
          </a:solidFill>
          <a:ln/>
        </p:spPr>
      </p:sp>
      <p:sp>
        <p:nvSpPr>
          <p:cNvPr id="20" name="Text 18"/>
          <p:cNvSpPr/>
          <p:nvPr/>
        </p:nvSpPr>
        <p:spPr>
          <a:xfrm>
            <a:off x="6711981" y="4099620"/>
            <a:ext cx="901281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4200" dirty="0">
                <a:solidFill>
                  <a:srgbClr val="000000"/>
                </a:solidFill>
                <a:latin typeface="Orelega One" pitchFamily="34" charset="0"/>
                <a:ea typeface="Orelega One" pitchFamily="34" charset="-122"/>
                <a:cs typeface="Orelega One" pitchFamily="34" charset="-120"/>
              </a:rPr>
              <a:t>6</a:t>
            </a:r>
            <a:endParaRPr lang="en-US" sz="4200" dirty="0"/>
          </a:p>
        </p:txBody>
      </p:sp>
      <p:sp>
        <p:nvSpPr>
          <p:cNvPr id="21" name="Text 19"/>
          <p:cNvSpPr/>
          <p:nvPr/>
        </p:nvSpPr>
        <p:spPr>
          <a:xfrm>
            <a:off x="7345476" y="4117479"/>
            <a:ext cx="3931841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Scada" pitchFamily="34" charset="0"/>
                <a:ea typeface="Scada" pitchFamily="34" charset="-122"/>
                <a:cs typeface="Scada" pitchFamily="34" charset="-120"/>
              </a:rPr>
              <a:t>Выбранное время должно находиться внутри одного из слотов расписания.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09585" y="5014020"/>
            <a:ext cx="10972526" cy="9528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7000"/>
              </a:lnSpc>
              <a:spcAft>
                <a:spcPts val="1600"/>
              </a:spcAft>
              <a:buNone/>
            </a:pPr>
            <a:r>
              <a:rPr lang="en-US" sz="1400" dirty="0">
                <a:solidFill>
                  <a:srgbClr val="FFF6E3"/>
                </a:solidFill>
                <a:latin typeface="Scada" pitchFamily="34" charset="0"/>
                <a:ea typeface="Scada" pitchFamily="34" charset="-122"/>
                <a:cs typeface="Scada" pitchFamily="34" charset="-120"/>
              </a:rPr>
              <a:t>Если проверка не пройдена, программа показывает сообщение об ошибке. Если всё правильно, заявка добавляется в массив `requests`.</a:t>
            </a:r>
            <a:endParaRPr lang="en-US" sz="1400" dirty="0"/>
          </a:p>
          <a:p>
            <a:pPr marL="0" indent="0" algn="l">
              <a:lnSpc>
                <a:spcPct val="117000"/>
              </a:lnSpc>
              <a:buNone/>
            </a:pPr>
            <a:r>
              <a:rPr lang="en-US" sz="1400" dirty="0">
                <a:solidFill>
                  <a:srgbClr val="FFF6E3"/>
                </a:solidFill>
                <a:latin typeface="Scada" pitchFamily="34" charset="0"/>
                <a:ea typeface="Scada" pitchFamily="34" charset="-122"/>
                <a:cs typeface="Scada" pitchFamily="34" charset="-120"/>
              </a:rPr>
              <a:t>Важно: в данном проекте расписание ограничено заранее созданными слотами, поэтому запись на произвольное время не разрешается.</a:t>
            </a:r>
            <a:endParaRPr lang="en-US" sz="1400" dirty="0"/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26775" y="6477000"/>
            <a:ext cx="1165225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585" y="609600"/>
            <a:ext cx="6121247" cy="5638800"/>
          </a:xfrm>
          <a:prstGeom prst="roundRect">
            <a:avLst>
              <a:gd name="adj" fmla="val 7567"/>
            </a:avLst>
          </a:prstGeom>
          <a:solidFill>
            <a:srgbClr val="FFF6E3"/>
          </a:solidFill>
          <a:ln/>
        </p:spPr>
      </p:sp>
      <p:sp>
        <p:nvSpPr>
          <p:cNvPr id="3" name="Text 1"/>
          <p:cNvSpPr/>
          <p:nvPr/>
        </p:nvSpPr>
        <p:spPr>
          <a:xfrm>
            <a:off x="965176" y="871283"/>
            <a:ext cx="5410065" cy="4490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7000"/>
              </a:lnSpc>
              <a:buNone/>
            </a:pPr>
            <a:r>
              <a:rPr lang="en-US" sz="3400" kern="100" spc="-68" dirty="0">
                <a:solidFill>
                  <a:srgbClr val="22252B"/>
                </a:solidFill>
                <a:latin typeface="Orelega One" pitchFamily="34" charset="0"/>
                <a:ea typeface="Orelega One" pitchFamily="34" charset="-122"/>
                <a:cs typeface="Orelega One" pitchFamily="34" charset="-120"/>
              </a:rPr>
              <a:t>Поиск и отмена заявки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965176" y="1541264"/>
            <a:ext cx="5410065" cy="9528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7000"/>
              </a:lnSpc>
              <a:spcAft>
                <a:spcPts val="160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Scada" pitchFamily="34" charset="0"/>
                <a:ea typeface="Scada" pitchFamily="34" charset="-122"/>
                <a:cs typeface="Scada" pitchFamily="34" charset="-120"/>
              </a:rPr>
              <a:t>Функция `renderRequests()` выводит список заявок студентов.</a:t>
            </a:r>
            <a:endParaRPr lang="en-US" sz="1400" dirty="0"/>
          </a:p>
          <a:p>
            <a:pPr marL="0" indent="0" algn="l">
              <a:lnSpc>
                <a:spcPct val="117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Scada" pitchFamily="34" charset="0"/>
                <a:ea typeface="Scada" pitchFamily="34" charset="-122"/>
                <a:cs typeface="Scada" pitchFamily="34" charset="-120"/>
              </a:rPr>
              <a:t>Поиск работает с помощью метода `filter()`, который оставляет только заявки, соответствующие введённому имени.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965176" y="2751336"/>
            <a:ext cx="5410065" cy="2285802"/>
          </a:xfrm>
          <a:prstGeom prst="roundRect">
            <a:avLst>
              <a:gd name="adj" fmla="val 9001"/>
            </a:avLst>
          </a:prstGeom>
          <a:solidFill>
            <a:srgbClr val="0F4A37"/>
          </a:solidFill>
          <a:ln/>
        </p:spPr>
      </p:sp>
      <p:sp>
        <p:nvSpPr>
          <p:cNvPr id="6" name="Text 4"/>
          <p:cNvSpPr/>
          <p:nvPr/>
        </p:nvSpPr>
        <p:spPr>
          <a:xfrm>
            <a:off x="1239410" y="2979936"/>
            <a:ext cx="4861597" cy="18286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20000"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filtered = requests.filter(request =&gt;</a:t>
            </a:r>
            <a:endParaRPr lang="en-US" sz="18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request.student.toLocaleLowerCase("ru").includes(search)</a:t>
            </a:r>
            <a:endParaRPr lang="en-US" sz="18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086423" y="609600"/>
            <a:ext cx="4495688" cy="5638800"/>
          </a:xfrm>
          <a:prstGeom prst="roundRect">
            <a:avLst>
              <a:gd name="adj" fmla="val 9492"/>
            </a:avLst>
          </a:prstGeom>
          <a:solidFill>
            <a:srgbClr val="F4A259"/>
          </a:solidFill>
          <a:ln/>
        </p:spPr>
      </p:sp>
      <p:sp>
        <p:nvSpPr>
          <p:cNvPr id="8" name="Text 6"/>
          <p:cNvSpPr/>
          <p:nvPr/>
        </p:nvSpPr>
        <p:spPr>
          <a:xfrm>
            <a:off x="7442014" y="1258888"/>
            <a:ext cx="3784505" cy="9528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spcAft>
                <a:spcPts val="1600"/>
              </a:spcAft>
              <a:buNone/>
            </a:pPr>
            <a:r>
              <a:rPr lang="en-US" sz="1400" dirty="0">
                <a:solidFill>
                  <a:srgbClr val="22252B"/>
                </a:solidFill>
                <a:latin typeface="Scada" pitchFamily="34" charset="0"/>
                <a:ea typeface="Scada" pitchFamily="34" charset="-122"/>
                <a:cs typeface="Scada" pitchFamily="34" charset="-120"/>
              </a:rPr>
              <a:t>Для отмены предусмотрена кнопка «Отменить заявку».</a:t>
            </a:r>
            <a:endParaRPr lang="en-US" sz="1400" dirty="0"/>
          </a:p>
          <a:p>
            <a:pPr marL="0" indent="0" algn="l">
              <a:lnSpc>
                <a:spcPct val="117000"/>
              </a:lnSpc>
              <a:buNone/>
            </a:pPr>
            <a:r>
              <a:rPr lang="en-US" sz="1400" dirty="0">
                <a:solidFill>
                  <a:srgbClr val="22252B"/>
                </a:solidFill>
                <a:latin typeface="Scada" pitchFamily="34" charset="0"/>
                <a:ea typeface="Scada" pitchFamily="34" charset="-122"/>
                <a:cs typeface="Scada" pitchFamily="34" charset="-120"/>
              </a:rPr>
              <a:t>После нажатия заявка удаляется из массива: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442014" y="2468959"/>
            <a:ext cx="3784505" cy="1920081"/>
          </a:xfrm>
          <a:prstGeom prst="roundRect">
            <a:avLst>
              <a:gd name="adj" fmla="val 10715"/>
            </a:avLst>
          </a:prstGeom>
          <a:solidFill>
            <a:srgbClr val="0F4A37"/>
          </a:solidFill>
          <a:ln/>
        </p:spPr>
      </p:sp>
      <p:sp>
        <p:nvSpPr>
          <p:cNvPr id="10" name="Text 8"/>
          <p:cNvSpPr/>
          <p:nvPr/>
        </p:nvSpPr>
        <p:spPr>
          <a:xfrm>
            <a:off x="7716248" y="2697559"/>
            <a:ext cx="3236038" cy="14628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requests = requests.filter(</a:t>
            </a:r>
            <a:endParaRPr lang="en-US" sz="18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item =&gt; item.id !== request.id</a:t>
            </a:r>
            <a:endParaRPr lang="en-US" sz="18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442014" y="4852591"/>
            <a:ext cx="3784505" cy="7465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Scada" pitchFamily="34" charset="0"/>
                <a:ea typeface="Scada" pitchFamily="34" charset="-122"/>
                <a:cs typeface="Scada" pitchFamily="34" charset="-120"/>
              </a:rPr>
              <a:t>Затем расписание и статистика обновляются. Освободившееся время снова становится доступным.</a:t>
            </a:r>
            <a:endParaRPr lang="en-US" sz="1400" dirty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52286" y="6477000"/>
            <a:ext cx="1235075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7283"/>
            <a:ext cx="10972526" cy="4490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7000"/>
              </a:lnSpc>
              <a:buNone/>
            </a:pPr>
            <a:r>
              <a:rPr lang="en-US" sz="3400" kern="100" spc="-68" dirty="0">
                <a:solidFill>
                  <a:srgbClr val="000000"/>
                </a:solidFill>
                <a:latin typeface="Orelega One" pitchFamily="34" charset="0"/>
                <a:ea typeface="Orelega One" pitchFamily="34" charset="-122"/>
                <a:cs typeface="Orelega One" pitchFamily="34" charset="-120"/>
              </a:rPr>
              <a:t>Проверка работы программы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09585" y="1287264"/>
            <a:ext cx="11582110" cy="319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Scada" pitchFamily="34" charset="0"/>
                <a:ea typeface="Scada" pitchFamily="34" charset="-122"/>
                <a:cs typeface="Scada" pitchFamily="34" charset="-120"/>
              </a:rPr>
              <a:t>Для проверки сервиса можно использовать следующие тестовые сценарии.</a:t>
            </a:r>
            <a:endParaRPr lang="en-US" sz="18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9585" y="1813620"/>
          <a:ext cx="10997827" cy="3595303"/>
        </p:xfrm>
        <a:graphic>
          <a:graphicData uri="http://schemas.openxmlformats.org/drawingml/2006/table">
            <a:tbl>
              <a:tblPr/>
              <a:tblGrid>
                <a:gridCol w="5320572"/>
                <a:gridCol w="5308963"/>
                <a:gridCol w="368292"/>
              </a:tblGrid>
              <a:tr h="51542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Scada" pitchFamily="34" charset="0"/>
                          <a:ea typeface="Scada" pitchFamily="34" charset="-122"/>
                          <a:cs typeface="Scada" pitchFamily="34" charset="-120"/>
                        </a:rPr>
                        <a:t>Действие</a:t>
                      </a:r>
                      <a:endParaRPr lang="en-US" sz="1800" dirty="0">
                        <a:latin typeface="Scada" charset="0"/>
                        <a:ea typeface="Scada" charset="0"/>
                        <a:cs typeface="Scada" charset="0"/>
                      </a:endParaRPr>
                    </a:p>
                  </a:txBody>
                  <a:tcPr marL="171446" marR="171446" marT="91438" marB="91438" anchor="ctr">
                    <a:lnL w="12700" cap="flat" cmpd="sng" algn="ctr">
                      <a:solidFill>
                        <a:srgbClr val="FFF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156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Scada" pitchFamily="34" charset="0"/>
                          <a:ea typeface="Scada" pitchFamily="34" charset="-122"/>
                          <a:cs typeface="Scada" pitchFamily="34" charset="-120"/>
                        </a:rPr>
                        <a:t>Ожидаемый результат</a:t>
                      </a:r>
                      <a:endParaRPr lang="en-US" sz="1800" dirty="0">
                        <a:latin typeface="Scada" charset="0"/>
                        <a:ea typeface="Scada" charset="0"/>
                        <a:cs typeface="Scada" charset="0"/>
                      </a:endParaRPr>
                    </a:p>
                  </a:txBody>
                  <a:tcPr marL="171446" marR="171446" marT="91438" marB="91438" anchor="ctr">
                    <a:lnL w="12700" cap="flat" cmpd="sng" algn="ctr">
                      <a:solidFill>
                        <a:srgbClr val="FFF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156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800" dirty="0">
                        <a:latin typeface="Scada" charset="0"/>
                        <a:ea typeface="Scada" charset="0"/>
                        <a:cs typeface="Scada" charset="0"/>
                      </a:endParaRPr>
                    </a:p>
                  </a:txBody>
                  <a:tcPr marL="171446" marR="171446" marT="91438" marB="91438" anchor="ctr">
                    <a:lnL w="12700" cap="flat" cmpd="sng" algn="ctr">
                      <a:solidFill>
                        <a:srgbClr val="FFF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156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542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Scada" pitchFamily="34" charset="0"/>
                          <a:ea typeface="Scada" pitchFamily="34" charset="-122"/>
                          <a:cs typeface="Scada" pitchFamily="34" charset="-120"/>
                        </a:rPr>
                        <a:t>Заполнить все поля правильно</a:t>
                      </a:r>
                      <a:endParaRPr lang="en-US" sz="1800" dirty="0">
                        <a:latin typeface="Scada" charset="0"/>
                        <a:ea typeface="Scada" charset="0"/>
                        <a:cs typeface="Scada" charset="0"/>
                      </a:endParaRPr>
                    </a:p>
                  </a:txBody>
                  <a:tcPr marL="171446" marR="171446" marT="91438" marB="91438" anchor="ctr">
                    <a:lnL w="12700" cap="flat" cmpd="sng" algn="ctr">
                      <a:solidFill>
                        <a:srgbClr val="FFF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156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156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rgbClr val="000000"/>
                          </a:solidFill>
                          <a:latin typeface="Scada" pitchFamily="34" charset="0"/>
                          <a:ea typeface="Scada" pitchFamily="34" charset="-122"/>
                          <a:cs typeface="Scada" pitchFamily="34" charset="-120"/>
                        </a:rPr>
                        <a:t>Заявка создана</a:t>
                      </a:r>
                      <a:endParaRPr lang="en-US" sz="1800" dirty="0">
                        <a:latin typeface="Scada" charset="0"/>
                        <a:ea typeface="Scada" charset="0"/>
                        <a:cs typeface="Scada" charset="0"/>
                      </a:endParaRPr>
                    </a:p>
                  </a:txBody>
                  <a:tcPr marL="171446" marR="171446" marT="91438" marB="91438" anchor="ctr">
                    <a:lnL w="12700" cap="flat" cmpd="sng" algn="ctr">
                      <a:solidFill>
                        <a:srgbClr val="FFF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F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156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156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D8C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800" dirty="0">
                        <a:latin typeface="Scada" charset="0"/>
                        <a:ea typeface="Scada" charset="0"/>
                        <a:cs typeface="Scada" charset="0"/>
                      </a:endParaRPr>
                    </a:p>
                  </a:txBody>
                  <a:tcPr marL="171446" marR="171446" marT="91438" marB="91438" anchor="ctr">
                    <a:lnL w="12700" cap="flat" cmpd="sng" algn="ctr">
                      <a:solidFill>
                        <a:srgbClr val="9F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156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156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542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Scada" pitchFamily="34" charset="0"/>
                          <a:ea typeface="Scada" pitchFamily="34" charset="-122"/>
                          <a:cs typeface="Scada" pitchFamily="34" charset="-120"/>
                        </a:rPr>
                        <a:t>Оставить поле пустым</a:t>
                      </a:r>
                      <a:endParaRPr lang="en-US" sz="1800" dirty="0">
                        <a:latin typeface="Scada" charset="0"/>
                        <a:ea typeface="Scada" charset="0"/>
                        <a:cs typeface="Scada" charset="0"/>
                      </a:endParaRPr>
                    </a:p>
                  </a:txBody>
                  <a:tcPr marL="171446" marR="171446" marT="91438" marB="91438" anchor="ctr">
                    <a:lnL w="12700" cap="flat" cmpd="sng" algn="ctr">
                      <a:solidFill>
                        <a:srgbClr val="FFF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156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156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Scada" pitchFamily="34" charset="0"/>
                          <a:ea typeface="Scada" pitchFamily="34" charset="-122"/>
                          <a:cs typeface="Scada" pitchFamily="34" charset="-120"/>
                        </a:rPr>
                        <a:t>Появится ошибка</a:t>
                      </a:r>
                      <a:endParaRPr lang="en-US" sz="1800" dirty="0">
                        <a:latin typeface="Scada" charset="0"/>
                        <a:ea typeface="Scada" charset="0"/>
                        <a:cs typeface="Scada" charset="0"/>
                      </a:endParaRPr>
                    </a:p>
                  </a:txBody>
                  <a:tcPr marL="171446" marR="171446" marT="91438" marB="91438" anchor="ctr">
                    <a:lnL w="12700" cap="flat" cmpd="sng" algn="ctr">
                      <a:solidFill>
                        <a:srgbClr val="FFF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156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156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800" dirty="0">
                        <a:latin typeface="Scada" charset="0"/>
                        <a:ea typeface="Scada" charset="0"/>
                        <a:cs typeface="Scada" charset="0"/>
                      </a:endParaRPr>
                    </a:p>
                  </a:txBody>
                  <a:tcPr marL="171446" marR="171446" marT="91438" marB="91438" anchor="ctr">
                    <a:lnL w="12700" cap="flat" cmpd="sng" algn="ctr">
                      <a:solidFill>
                        <a:srgbClr val="FFF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156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156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542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Scada" pitchFamily="34" charset="0"/>
                          <a:ea typeface="Scada" pitchFamily="34" charset="-122"/>
                          <a:cs typeface="Scada" pitchFamily="34" charset="-120"/>
                        </a:rPr>
                        <a:t>Указать время окончания раньше начала</a:t>
                      </a:r>
                      <a:endParaRPr lang="en-US" sz="1800" dirty="0">
                        <a:latin typeface="Scada" charset="0"/>
                        <a:ea typeface="Scada" charset="0"/>
                        <a:cs typeface="Scada" charset="0"/>
                      </a:endParaRPr>
                    </a:p>
                  </a:txBody>
                  <a:tcPr marL="171446" marR="171446" marT="91438" marB="91438" anchor="ctr">
                    <a:lnL w="12700" cap="flat" cmpd="sng" algn="ctr">
                      <a:solidFill>
                        <a:srgbClr val="FFF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156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156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Scada" pitchFamily="34" charset="0"/>
                          <a:ea typeface="Scada" pitchFamily="34" charset="-122"/>
                          <a:cs typeface="Scada" pitchFamily="34" charset="-120"/>
                        </a:rPr>
                        <a:t>Появится ошибка</a:t>
                      </a:r>
                      <a:endParaRPr lang="en-US" sz="1800" dirty="0">
                        <a:latin typeface="Scada" charset="0"/>
                        <a:ea typeface="Scada" charset="0"/>
                        <a:cs typeface="Scada" charset="0"/>
                      </a:endParaRPr>
                    </a:p>
                  </a:txBody>
                  <a:tcPr marL="171446" marR="171446" marT="91438" marB="91438" anchor="ctr">
                    <a:lnL w="12700" cap="flat" cmpd="sng" algn="ctr">
                      <a:solidFill>
                        <a:srgbClr val="FFF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156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156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800" dirty="0">
                        <a:latin typeface="Scada" charset="0"/>
                        <a:ea typeface="Scada" charset="0"/>
                        <a:cs typeface="Scada" charset="0"/>
                      </a:endParaRPr>
                    </a:p>
                  </a:txBody>
                  <a:tcPr marL="171446" marR="171446" marT="91438" marB="91438" anchor="ctr">
                    <a:lnL w="12700" cap="flat" cmpd="sng" algn="ctr">
                      <a:solidFill>
                        <a:srgbClr val="FFF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156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156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542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Scada" pitchFamily="34" charset="0"/>
                          <a:ea typeface="Scada" pitchFamily="34" charset="-122"/>
                          <a:cs typeface="Scada" pitchFamily="34" charset="-120"/>
                        </a:rPr>
                        <a:t>Записаться на занятое время</a:t>
                      </a:r>
                      <a:endParaRPr lang="en-US" sz="1800" dirty="0">
                        <a:latin typeface="Scada" charset="0"/>
                        <a:ea typeface="Scada" charset="0"/>
                        <a:cs typeface="Scada" charset="0"/>
                      </a:endParaRPr>
                    </a:p>
                  </a:txBody>
                  <a:tcPr marL="171446" marR="171446" marT="91438" marB="91438" anchor="ctr">
                    <a:lnL w="12700" cap="flat" cmpd="sng" algn="ctr">
                      <a:solidFill>
                        <a:srgbClr val="FFF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156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156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Scada" pitchFamily="34" charset="0"/>
                          <a:ea typeface="Scada" pitchFamily="34" charset="-122"/>
                          <a:cs typeface="Scada" pitchFamily="34" charset="-120"/>
                        </a:rPr>
                        <a:t>Запись отклоняется</a:t>
                      </a:r>
                      <a:endParaRPr lang="en-US" sz="1800" dirty="0">
                        <a:latin typeface="Scada" charset="0"/>
                        <a:ea typeface="Scada" charset="0"/>
                        <a:cs typeface="Scada" charset="0"/>
                      </a:endParaRPr>
                    </a:p>
                  </a:txBody>
                  <a:tcPr marL="171446" marR="171446" marT="91438" marB="91438" anchor="ctr">
                    <a:lnL w="12700" cap="flat" cmpd="sng" algn="ctr">
                      <a:solidFill>
                        <a:srgbClr val="FFF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156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156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800" dirty="0">
                        <a:latin typeface="Scada" charset="0"/>
                        <a:ea typeface="Scada" charset="0"/>
                        <a:cs typeface="Scada" charset="0"/>
                      </a:endParaRPr>
                    </a:p>
                  </a:txBody>
                  <a:tcPr marL="171446" marR="171446" marT="91438" marB="91438" anchor="ctr">
                    <a:lnL w="12700" cap="flat" cmpd="sng" algn="ctr">
                      <a:solidFill>
                        <a:srgbClr val="FFF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156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156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542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Scada" pitchFamily="34" charset="0"/>
                          <a:ea typeface="Scada" pitchFamily="34" charset="-122"/>
                          <a:cs typeface="Scada" pitchFamily="34" charset="-120"/>
                        </a:rPr>
                        <a:t>Ввести имя в поиске</a:t>
                      </a:r>
                      <a:endParaRPr lang="en-US" sz="1800" dirty="0">
                        <a:latin typeface="Scada" charset="0"/>
                        <a:ea typeface="Scada" charset="0"/>
                        <a:cs typeface="Scada" charset="0"/>
                      </a:endParaRPr>
                    </a:p>
                  </a:txBody>
                  <a:tcPr marL="171446" marR="171446" marT="91438" marB="91438" anchor="ctr">
                    <a:lnL w="12700" cap="flat" cmpd="sng" algn="ctr">
                      <a:solidFill>
                        <a:srgbClr val="FFF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156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156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Scada" pitchFamily="34" charset="0"/>
                          <a:ea typeface="Scada" pitchFamily="34" charset="-122"/>
                          <a:cs typeface="Scada" pitchFamily="34" charset="-120"/>
                        </a:rPr>
                        <a:t>Отобразятся подходящие заявки</a:t>
                      </a:r>
                      <a:endParaRPr lang="en-US" sz="1800" dirty="0">
                        <a:latin typeface="Scada" charset="0"/>
                        <a:ea typeface="Scada" charset="0"/>
                        <a:cs typeface="Scada" charset="0"/>
                      </a:endParaRPr>
                    </a:p>
                  </a:txBody>
                  <a:tcPr marL="171446" marR="171446" marT="91438" marB="91438" anchor="ctr">
                    <a:lnL w="12700" cap="flat" cmpd="sng" algn="ctr">
                      <a:solidFill>
                        <a:srgbClr val="FFF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156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156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800" dirty="0">
                        <a:latin typeface="Scada" charset="0"/>
                        <a:ea typeface="Scada" charset="0"/>
                        <a:cs typeface="Scada" charset="0"/>
                      </a:endParaRPr>
                    </a:p>
                  </a:txBody>
                  <a:tcPr marL="171446" marR="171446" marT="91438" marB="91438" anchor="ctr">
                    <a:lnL w="12700" cap="flat" cmpd="sng" algn="ctr">
                      <a:solidFill>
                        <a:srgbClr val="FFF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156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156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72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Scada" pitchFamily="34" charset="0"/>
                          <a:ea typeface="Scada" pitchFamily="34" charset="-122"/>
                          <a:cs typeface="Scada" pitchFamily="34" charset="-120"/>
                        </a:rPr>
                        <a:t>Отменить существующую заявку</a:t>
                      </a:r>
                      <a:endParaRPr lang="en-US" sz="1800" dirty="0">
                        <a:latin typeface="Scada" charset="0"/>
                        <a:ea typeface="Scada" charset="0"/>
                        <a:cs typeface="Scada" charset="0"/>
                      </a:endParaRPr>
                    </a:p>
                  </a:txBody>
                  <a:tcPr marL="171446" marR="171446" marT="91438" marB="91438" anchor="ctr">
                    <a:lnL w="12700" cap="flat" cmpd="sng" algn="ctr">
                      <a:solidFill>
                        <a:srgbClr val="FFF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156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Scada" pitchFamily="34" charset="0"/>
                          <a:ea typeface="Scada" pitchFamily="34" charset="-122"/>
                          <a:cs typeface="Scada" pitchFamily="34" charset="-120"/>
                        </a:rPr>
                        <a:t>Время освободится</a:t>
                      </a:r>
                      <a:endParaRPr lang="en-US" sz="1800" dirty="0">
                        <a:latin typeface="Scada" charset="0"/>
                        <a:ea typeface="Scada" charset="0"/>
                        <a:cs typeface="Scada" charset="0"/>
                      </a:endParaRPr>
                    </a:p>
                  </a:txBody>
                  <a:tcPr marL="171446" marR="171446" marT="91438" marB="91438" anchor="ctr">
                    <a:lnL w="12700" cap="flat" cmpd="sng" algn="ctr">
                      <a:solidFill>
                        <a:srgbClr val="FFF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156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800" dirty="0">
                        <a:latin typeface="Scada" charset="0"/>
                        <a:ea typeface="Scada" charset="0"/>
                        <a:cs typeface="Scada" charset="0"/>
                      </a:endParaRPr>
                    </a:p>
                  </a:txBody>
                  <a:tcPr marL="171446" marR="171446" marT="91438" marB="91438" anchor="ctr">
                    <a:lnL w="12700" cap="flat" cmpd="sng" algn="ctr">
                      <a:solidFill>
                        <a:srgbClr val="FFF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156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09585" y="5561409"/>
            <a:ext cx="11582110" cy="319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Scada" pitchFamily="34" charset="0"/>
                <a:ea typeface="Scada" pitchFamily="34" charset="-122"/>
                <a:cs typeface="Scada" pitchFamily="34" charset="-120"/>
              </a:rPr>
              <a:t>Тестирование позволяет проверить основные функции сервиса и правильность обработки ошибок.</a:t>
            </a:r>
            <a:endParaRPr lang="en-US" sz="1800" dirty="0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53011" y="6481177"/>
            <a:ext cx="1138989" cy="3657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85" y="609600"/>
            <a:ext cx="1650959" cy="56388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616135" y="609600"/>
            <a:ext cx="8965976" cy="5638800"/>
          </a:xfrm>
          <a:prstGeom prst="roundRect">
            <a:avLst>
              <a:gd name="adj" fmla="val 7567"/>
            </a:avLst>
          </a:prstGeom>
          <a:solidFill>
            <a:srgbClr val="FFF6E3"/>
          </a:solidFill>
          <a:ln/>
        </p:spPr>
      </p:sp>
      <p:sp>
        <p:nvSpPr>
          <p:cNvPr id="4" name="Text 1"/>
          <p:cNvSpPr/>
          <p:nvPr/>
        </p:nvSpPr>
        <p:spPr>
          <a:xfrm>
            <a:off x="3047924" y="751650"/>
            <a:ext cx="8102397" cy="6339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7000"/>
              </a:lnSpc>
              <a:buNone/>
            </a:pPr>
            <a:r>
              <a:rPr lang="en-US" sz="4800" kern="100" spc="-96" dirty="0">
                <a:solidFill>
                  <a:srgbClr val="22252B"/>
                </a:solidFill>
                <a:latin typeface="Orelega One" pitchFamily="34" charset="0"/>
                <a:ea typeface="Orelega One" pitchFamily="34" charset="-122"/>
                <a:cs typeface="Orelega One" pitchFamily="34" charset="-120"/>
              </a:rPr>
              <a:t>Вывод</a:t>
            </a:r>
            <a:endParaRPr lang="en-US" sz="4800" dirty="0"/>
          </a:p>
        </p:txBody>
      </p:sp>
      <p:sp>
        <p:nvSpPr>
          <p:cNvPr id="5" name="Text 2"/>
          <p:cNvSpPr/>
          <p:nvPr/>
        </p:nvSpPr>
        <p:spPr>
          <a:xfrm>
            <a:off x="3047924" y="1599109"/>
            <a:ext cx="8102397" cy="11663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spcAft>
                <a:spcPts val="1600"/>
              </a:spcAft>
              <a:buNone/>
            </a:pPr>
            <a:r>
              <a:rPr lang="en-US" sz="1800" dirty="0">
                <a:solidFill>
                  <a:srgbClr val="000000"/>
                </a:solidFill>
                <a:latin typeface="Scada" pitchFamily="34" charset="0"/>
                <a:ea typeface="Scada" pitchFamily="34" charset="-122"/>
                <a:cs typeface="Scada" pitchFamily="34" charset="-120"/>
              </a:rPr>
              <a:t>В результате был разработан веб-сервис для записи студентов на консультации к преподавателям.</a:t>
            </a:r>
            <a:endParaRPr lang="en-US" sz="1800" dirty="0"/>
          </a:p>
          <a:p>
            <a:pPr marL="0" indent="0" algn="l">
              <a:lnSpc>
                <a:spcPct val="117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Scada" pitchFamily="34" charset="0"/>
                <a:ea typeface="Scada" pitchFamily="34" charset="-122"/>
                <a:cs typeface="Scada" pitchFamily="34" charset="-120"/>
              </a:rPr>
              <a:t>В проекте используются три основные технологии: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3047924" y="2971800"/>
            <a:ext cx="8102397" cy="13942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65760" indent="-365760" algn="l">
              <a:lnSpc>
                <a:spcPct val="117000"/>
              </a:lnSpc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Scada" pitchFamily="34" charset="0"/>
                <a:ea typeface="Scada" pitchFamily="34" charset="-122"/>
                <a:cs typeface="Scada" pitchFamily="34" charset="-120"/>
              </a:rPr>
              <a:t>HTML — структура страницы.</a:t>
            </a:r>
            <a:endParaRPr lang="en-US" sz="1800" dirty="0"/>
          </a:p>
          <a:p>
            <a:pPr marL="365760" indent="-365760" algn="l">
              <a:lnSpc>
                <a:spcPct val="117000"/>
              </a:lnSpc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Scada" pitchFamily="34" charset="0"/>
                <a:ea typeface="Scada" pitchFamily="34" charset="-122"/>
                <a:cs typeface="Scada" pitchFamily="34" charset="-120"/>
              </a:rPr>
              <a:t>CSS — оформление и адаптация сайта.</a:t>
            </a:r>
            <a:endParaRPr lang="en-US" sz="1800" dirty="0"/>
          </a:p>
          <a:p>
            <a:pPr marL="365760" indent="-365760" algn="l">
              <a:lnSpc>
                <a:spcPct val="117000"/>
              </a:lnSpc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Scada" pitchFamily="34" charset="0"/>
                <a:ea typeface="Scada" pitchFamily="34" charset="-122"/>
                <a:cs typeface="Scada" pitchFamily="34" charset="-120"/>
              </a:rPr>
              <a:t>JavaScript — обработка заявок, поиск, отмена записей и проверка времени.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3047924" y="4572397"/>
            <a:ext cx="8102397" cy="14862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17000"/>
              </a:lnSpc>
              <a:spcAft>
                <a:spcPts val="1600"/>
              </a:spcAft>
              <a:buNone/>
            </a:pPr>
            <a:r>
              <a:rPr lang="en-US" sz="1800" dirty="0">
                <a:solidFill>
                  <a:srgbClr val="000000"/>
                </a:solidFill>
                <a:latin typeface="Scada" pitchFamily="34" charset="0"/>
                <a:ea typeface="Scada" pitchFamily="34" charset="-122"/>
                <a:cs typeface="Scada" pitchFamily="34" charset="-120"/>
              </a:rPr>
              <a:t>Во время выполнения проекта были изучены работа с массивами, функциями, событиями, формами и проверкой пользовательского ввода.</a:t>
            </a:r>
            <a:endParaRPr lang="en-US" sz="1800" dirty="0"/>
          </a:p>
          <a:p>
            <a:pPr marL="0" indent="0" algn="l">
              <a:lnSpc>
                <a:spcPct val="117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Scada" pitchFamily="34" charset="0"/>
                <a:ea typeface="Scada" pitchFamily="34" charset="-122"/>
                <a:cs typeface="Scada" pitchFamily="34" charset="-120"/>
              </a:rPr>
              <a:t>Итог: сервис упрощает запись на консультации и помогает предотвращать пересечения времени.</a:t>
            </a:r>
            <a:endParaRPr lang="en-US" sz="1800" dirty="0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00695" y="6477000"/>
            <a:ext cx="1235075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917</Words>
  <Application>Microsoft Office PowerPoint</Application>
  <PresentationFormat>Произвольный</PresentationFormat>
  <Paragraphs>147</Paragraphs>
  <Slides>10</Slides>
  <Notes>10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7" baseType="lpstr">
      <vt:lpstr>Arial</vt:lpstr>
      <vt:lpstr>Calibri</vt:lpstr>
      <vt:lpstr>Consolas</vt:lpstr>
      <vt:lpstr>Scada</vt:lpstr>
      <vt:lpstr>Orelega One</vt:lpstr>
      <vt:lpstr>Scada Bold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Lenovo</dc:creator>
  <cp:lastModifiedBy>Lenovo</cp:lastModifiedBy>
  <cp:revision>2</cp:revision>
  <dcterms:created xsi:type="dcterms:W3CDTF">2026-10-18T11:33:56Z</dcterms:created>
  <dcterms:modified xsi:type="dcterms:W3CDTF">2026-10-18T11:41:29Z</dcterms:modified>
</cp:coreProperties>
</file>